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4400" b="1">
                <a:solidFill>
                  <a:srgbClr val="E3E9F4"/>
                </a:solidFill>
                <a:latin typeface="Pretendard"/>
              </a:rPr>
              <a:t>SPOTTER — ABM × DB 인프라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000" b="0">
                <a:solidFill>
                  <a:srgbClr val="9CA9BE"/>
                </a:solidFill>
                <a:latin typeface="Pretendard"/>
              </a:rPr>
              <a:t>찬영 (A1) 기여 분석 · 2026-04 ~ 2026-05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657600"/>
            <a:ext cx="11247120" cy="36576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70332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1">
                <a:solidFill>
                  <a:srgbClr val="4FC3F7"/>
                </a:solidFill>
                <a:latin typeface="Pretendard"/>
              </a:rPr>
              <a:t>발표 범위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14800"/>
            <a:ext cx="1097280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/>
            <a:r>
              <a:rPr sz="1600">
                <a:solidFill>
                  <a:srgbClr val="E3E9F4"/>
                </a:solidFill>
                <a:latin typeface="Pretendard"/>
              </a:rPr>
              <a:t>·  Slide 1 — ABM (Agent-Based Modeling): 5,000 에이전트 × 3-Tier × Policy-as-code</a:t>
            </a:r>
          </a:p>
          <a:p>
            <a:pPr/>
            <a:r>
              <a:rPr sz="1600">
                <a:solidFill>
                  <a:srgbClr val="E3E9F4"/>
                </a:solidFill>
                <a:latin typeface="Pretendard"/>
              </a:rPr>
              <a:t>·  Slide 2 — DB 인프라: 87 테이블 / 77 ORM / 37 마이그레이션 정합화</a:t>
            </a:r>
          </a:p>
          <a:p>
            <a:pPr/>
            <a:r>
              <a:rPr sz="1600">
                <a:solidFill>
                  <a:srgbClr val="E3E9F4"/>
                </a:solidFill>
                <a:latin typeface="Pretendard"/>
              </a:rPr>
              <a:t>·  Slide 3 — 가치 정량 + 산출물 요약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3000" b="1">
                <a:solidFill>
                  <a:srgbClr val="4FC3F7"/>
                </a:solidFill>
                <a:latin typeface="Pretendard"/>
              </a:rPr>
              <a:t>ABM — Agent-Based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0">
                <a:solidFill>
                  <a:srgbClr val="9CA9BE"/>
                </a:solidFill>
                <a:latin typeface="Pretendard"/>
              </a:rPr>
              <a:t>마포구 5,000 가상 에이전트가 매 시간 "어디 갈지" 결정 → 매장별 매출 추정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47120" cy="36576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1">
                <a:solidFill>
                  <a:srgbClr val="4FC3F7"/>
                </a:solidFill>
                <a:latin typeface="Pretendard"/>
              </a:rPr>
              <a:t>3-Tier 하이브리드 구조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828800"/>
          <a:ext cx="68580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886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FC3F7"/>
                          </a:solidFill>
                          <a:latin typeface="Pretendard"/>
                        </a:rPr>
                        <a:t>Tier</a:t>
                      </a:r>
                    </a:p>
                  </a:txBody>
                  <a:tcPr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FC3F7"/>
                          </a:solidFill>
                          <a:latin typeface="Pretendard"/>
                        </a:rPr>
                        <a:t>인원</a:t>
                      </a:r>
                    </a:p>
                  </a:txBody>
                  <a:tcPr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FC3F7"/>
                          </a:solidFill>
                          <a:latin typeface="Pretendard"/>
                        </a:rPr>
                        <a:t>모델</a:t>
                      </a:r>
                    </a:p>
                  </a:txBody>
                  <a:tcPr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FC3F7"/>
                          </a:solidFill>
                          <a:latin typeface="Pretendard"/>
                        </a:rPr>
                        <a:t>역할</a:t>
                      </a:r>
                    </a:p>
                  </a:txBody>
                  <a:tcPr>
                    <a:solidFill>
                      <a:srgbClr val="1A2236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S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50 고정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OpenAI gpt-4.1-mini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풀 LLM + thought feed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A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200 고정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OpenAI gpt-4.1-mini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경량 LLM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B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n_agents−250 (≈4,750)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policy_cache.json (LLM 0회)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정책 deterministic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589520" y="1828800"/>
            <a:ext cx="4114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1">
                <a:solidFill>
                  <a:srgbClr val="FFB74D"/>
                </a:solidFill>
                <a:latin typeface="Pretendard"/>
              </a:rPr>
              <a:t>핵심 트릭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194560"/>
            <a:ext cx="411480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/>
            <a:r>
              <a:rPr sz="1200">
                <a:solidFill>
                  <a:srgbClr val="E3E9F4"/>
                </a:solidFill>
                <a:latin typeface="Pretendard"/>
              </a:rPr>
              <a:t>·  policy_generator: LLM으로 정책 11회만 생성 (Ollama Qwen2.5:3b 로컬)</a:t>
            </a:r>
          </a:p>
          <a:p>
            <a:pPr/>
            <a:r>
              <a:rPr sz="1200">
                <a:solidFill>
                  <a:srgbClr val="E3E9F4"/>
                </a:solidFill>
                <a:latin typeface="Pretendard"/>
              </a:rPr>
              <a:t>·  JSON 캐시 → 매 시뮬 LLM 호출 0회 가능</a:t>
            </a:r>
          </a:p>
          <a:p>
            <a:pPr/>
            <a:r>
              <a:rPr sz="1200">
                <a:solidFill>
                  <a:srgbClr val="E3E9F4"/>
                </a:solidFill>
                <a:latin typeface="Pretendard"/>
              </a:rPr>
              <a:t>·  Archetype 30종 multiplier (같은 role 안 다양성)</a:t>
            </a:r>
          </a:p>
          <a:p>
            <a:pPr/>
            <a:r>
              <a:rPr sz="1200">
                <a:solidFill>
                  <a:srgbClr val="E3E9F4"/>
                </a:solidFill>
                <a:latin typeface="Pretendard"/>
              </a:rPr>
              <a:t>·  Memory Seeder: 14일 가상 visit_history → cold start 완화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840480"/>
            <a:ext cx="11247120" cy="36576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88620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1">
                <a:solidFill>
                  <a:srgbClr val="4FC3F7"/>
                </a:solidFill>
                <a:latin typeface="Pretendard"/>
              </a:rPr>
              <a:t>내가 한 작업 — 6 영역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97680"/>
            <a:ext cx="5852160" cy="2377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/>
            <a:r>
              <a:rPr sz="1100">
                <a:solidFill>
                  <a:srgbClr val="E3E9F4"/>
                </a:solidFill>
                <a:latin typeface="Pretendard"/>
              </a:rPr>
              <a:t>·  LLM 의사결정 — Tier S 배치 + Hierarchical Planning (UIST'23)</a:t>
            </a:r>
          </a:p>
          <a:p>
            <a:pPr/>
            <a:r>
              <a:rPr sz="1100">
                <a:solidFill>
                  <a:srgbClr val="9CA9BE"/>
                </a:solidFill>
                <a:latin typeface="Pretendard"/>
              </a:rPr>
              <a:t>·    · plan/thought 통합 + ext_commuter LLM plan 분리</a:t>
            </a:r>
          </a:p>
          <a:p>
            <a:pPr/>
            <a:r>
              <a:rPr sz="1100">
                <a:solidFill>
                  <a:srgbClr val="6EE7B7"/>
                </a:solidFill>
                <a:latin typeface="Pretendard"/>
              </a:rPr>
              <a:t>·    · caveman 압축 prompt → 토큰 -60%, 비용 절반</a:t>
            </a:r>
          </a:p>
          <a:p>
            <a:pPr/>
            <a:r>
              <a:rPr sz="1100">
                <a:solidFill>
                  <a:srgbClr val="9CA9BE"/>
                </a:solidFill>
                <a:latin typeface="Pretendard"/>
              </a:rPr>
              <a:t>·    · LangSmith trace 메타-그룹화 (1 root run)</a:t>
            </a:r>
          </a:p>
          <a:p>
            <a:pPr/>
            <a:r>
              <a:rPr sz="1100">
                <a:solidFill>
                  <a:srgbClr val="6EE7B7"/>
                </a:solidFill>
                <a:latin typeface="Pretendard"/>
              </a:rPr>
              <a:t>·  성능 — score_stores_batch precompute → 시뮬 -49%</a:t>
            </a:r>
          </a:p>
          <a:p>
            <a:pPr/>
            <a:r>
              <a:rPr sz="1100">
                <a:solidFill>
                  <a:srgbClr val="9CA9BE"/>
                </a:solidFill>
                <a:latin typeface="Pretendard"/>
              </a:rPr>
              <a:t>·    · score_store hot loop micro-opt + 사전 prefilter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297680"/>
            <a:ext cx="5486400" cy="2377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/>
            <a:r>
              <a:rPr sz="1100">
                <a:solidFill>
                  <a:srgbClr val="E3E9F4"/>
                </a:solidFill>
                <a:latin typeface="Pretendard"/>
              </a:rPr>
              <a:t>·  정확도 — KOSIS/마포 통계연보 → 동별 가변 σ + 활성률</a:t>
            </a:r>
          </a:p>
          <a:p>
            <a:pPr/>
            <a:r>
              <a:rPr sz="1100">
                <a:solidFill>
                  <a:srgbClr val="9CA9BE"/>
                </a:solidFill>
                <a:latin typeface="Pretendard"/>
              </a:rPr>
              <a:t>·    · runner day-loop boost 매일 갱신 / Sprint 6 sensitivity 회복</a:t>
            </a:r>
          </a:p>
          <a:p>
            <a:pPr/>
            <a:r>
              <a:rPr sz="1100">
                <a:solidFill>
                  <a:srgbClr val="9CA9BE"/>
                </a:solidFill>
                <a:latin typeface="Pretendard"/>
              </a:rPr>
              <a:t>·    · audit_v4 — 4 CV + 6 지표 + 합격선 판정</a:t>
            </a:r>
          </a:p>
          <a:p>
            <a:pPr/>
            <a:r>
              <a:rPr sz="1100">
                <a:solidFill>
                  <a:srgbClr val="E3E9F4"/>
                </a:solidFill>
                <a:latin typeface="Pretendard"/>
              </a:rPr>
              <a:t>·  PSE 공실 후보지 평가 — vacancy_pse / vacancy_inject</a:t>
            </a:r>
          </a:p>
          <a:p>
            <a:pPr/>
            <a:r>
              <a:rPr sz="1100">
                <a:solidFill>
                  <a:srgbClr val="6EE7B7"/>
                </a:solidFill>
                <a:latin typeface="Pretendard"/>
              </a:rPr>
              <a:t>·    · 가맹사업법 영업구역 평가 연계 (ABM × Legal)</a:t>
            </a:r>
          </a:p>
          <a:p>
            <a:pPr/>
            <a:r>
              <a:rPr sz="1100">
                <a:solidFill>
                  <a:srgbClr val="E3E9F4"/>
                </a:solidFill>
                <a:latin typeface="Pretendard"/>
              </a:rPr>
              <a:t>·  UX — 큐 / 대기화면 / 5,000 agent 시각화 / Floating Widget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3000" b="1">
                <a:solidFill>
                  <a:srgbClr val="4FC3F7"/>
                </a:solidFill>
                <a:latin typeface="Pretendard"/>
              </a:rPr>
              <a:t>DB 인프라 / ORM 정합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0">
                <a:solidFill>
                  <a:srgbClr val="9CA9BE"/>
                </a:solidFill>
                <a:latin typeface="Pretendard"/>
              </a:rPr>
              <a:t>PostgreSQL 87 테이블 · SQLAlchemy ORM 77 클래스 · Alembic 37 마이그레이션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47120" cy="36576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1">
                <a:solidFill>
                  <a:srgbClr val="4FC3F7"/>
                </a:solidFill>
                <a:latin typeface="Pretendard"/>
              </a:rPr>
              <a:t>내가 한 작업 — 6 영역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5852160" cy="4206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/>
            <a:r>
              <a:rPr sz="1100">
                <a:solidFill>
                  <a:srgbClr val="E3E9F4"/>
                </a:solidFill>
                <a:latin typeface="Pretendard"/>
              </a:rPr>
              <a:t>·  dong_code FK 정합화 — 4 sprint 그룹 (A / B-1 / B-2 / B-3)</a:t>
            </a:r>
          </a:p>
          <a:p>
            <a:pPr/>
            <a:r>
              <a:rPr sz="1100">
                <a:solidFill>
                  <a:srgbClr val="9CA9BE"/>
                </a:solidFill>
                <a:latin typeface="Pretendard"/>
              </a:rPr>
              <a:t>·    · 서울 425동 + 법정동 399 master + FK</a:t>
            </a:r>
          </a:p>
          <a:p>
            <a:pPr/>
            <a:r>
              <a:rPr sz="1100">
                <a:solidFill>
                  <a:srgbClr val="9CA9BE"/>
                </a:solidFill>
                <a:latin typeface="Pretendard"/>
              </a:rPr>
              <a:t>·    · dong_code 8자리 검증 (helper + Pydantic)</a:t>
            </a:r>
          </a:p>
          <a:p>
            <a:pPr/>
            <a:r>
              <a:rPr sz="1100">
                <a:solidFill>
                  <a:srgbClr val="9CA9BE"/>
                </a:solidFill>
                <a:latin typeface="Pretendard"/>
              </a:rPr>
              <a:t>·    · dong_centroid 마이그레이션 + master ORM 3종</a:t>
            </a:r>
          </a:p>
          <a:p>
            <a:pPr/>
            <a:r>
              <a:rPr sz="1100">
                <a:solidFill>
                  <a:srgbClr val="E3E9F4"/>
                </a:solidFill>
                <a:latin typeface="Pretendard"/>
              </a:rPr>
              <a:t>·  신규 테이블 / ORM 추가</a:t>
            </a:r>
          </a:p>
          <a:p>
            <a:pPr/>
            <a:r>
              <a:rPr sz="1100">
                <a:solidFill>
                  <a:srgbClr val="9CA9BE"/>
                </a:solidFill>
                <a:latin typeface="Pretendard"/>
              </a:rPr>
              <a:t>·    · kakao_store_menu 신설 + panel3 전수 재크롤링</a:t>
            </a:r>
          </a:p>
          <a:p>
            <a:pPr/>
            <a:r>
              <a:rPr sz="1100">
                <a:solidFill>
                  <a:srgbClr val="9CA9BE"/>
                </a:solidFill>
                <a:latin typeface="Pretendard"/>
              </a:rPr>
              <a:t>·    · seoul_realtime_hotspots, elderly_ratio_region ORM</a:t>
            </a:r>
          </a:p>
          <a:p>
            <a:pPr/>
            <a:r>
              <a:rPr sz="1100">
                <a:solidFill>
                  <a:srgbClr val="9CA9BE"/>
                </a:solidFill>
                <a:latin typeface="Pretendard"/>
              </a:rPr>
              <a:t>·    · emerging-trend B1 — 5 tables (master+operational)</a:t>
            </a:r>
          </a:p>
          <a:p>
            <a:pPr/>
            <a:r>
              <a:rPr sz="1100">
                <a:solidFill>
                  <a:srgbClr val="9CA9BE"/>
                </a:solidFill>
                <a:latin typeface="Pretendard"/>
              </a:rPr>
              <a:t>·    · industry_master FK 배선 + InviteCode nullable 명시</a:t>
            </a:r>
          </a:p>
          <a:p>
            <a:pPr/>
            <a:r>
              <a:rPr sz="1100">
                <a:solidFill>
                  <a:srgbClr val="E3E9F4"/>
                </a:solidFill>
                <a:latin typeface="Pretendard"/>
              </a:rPr>
              <a:t>·  Alembic 마이그레이션 정합</a:t>
            </a:r>
          </a:p>
          <a:p>
            <a:pPr/>
            <a:r>
              <a:rPr sz="1100">
                <a:solidFill>
                  <a:srgbClr val="6EE7B7"/>
                </a:solidFill>
                <a:latin typeface="Pretendard"/>
              </a:rPr>
              <a:t>·    · phantom revision 복구 + simulation_history 생성/cleanup</a:t>
            </a:r>
          </a:p>
          <a:p>
            <a:pPr/>
            <a:r>
              <a:rPr sz="1100">
                <a:solidFill>
                  <a:srgbClr val="9CA9BE"/>
                </a:solidFill>
                <a:latin typeface="Pretendard"/>
              </a:rPr>
              <a:t>·    · users / manager_users 라이프사이클 컬럼 catchup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5486400" cy="4206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/>
            <a:r>
              <a:rPr sz="1100">
                <a:solidFill>
                  <a:srgbClr val="E3E9F4"/>
                </a:solidFill>
                <a:latin typeface="Pretendard"/>
              </a:rPr>
              <a:t>·  연결 풀 / 인프라 안정화</a:t>
            </a:r>
          </a:p>
          <a:p>
            <a:pPr/>
            <a:r>
              <a:rPr sz="1100">
                <a:solidFill>
                  <a:srgbClr val="9CA9BE"/>
                </a:solidFill>
                <a:latin typeface="Pretendard"/>
              </a:rPr>
              <a:t>·    · vector_db PGVector pool_recycle=1800 (idle 회수)</a:t>
            </a:r>
          </a:p>
          <a:p>
            <a:pPr/>
            <a:r>
              <a:rPr sz="1100">
                <a:solidFill>
                  <a:srgbClr val="6EE7B7"/>
                </a:solidFill>
                <a:latin typeface="Pretendard"/>
              </a:rPr>
              <a:t>·    · services 레이어 Engine 싱글톤화 → RDS 포화 해소</a:t>
            </a:r>
          </a:p>
          <a:p>
            <a:pPr/>
            <a:r>
              <a:rPr sz="1100">
                <a:solidFill>
                  <a:srgbClr val="E3E9F4"/>
                </a:solidFill>
                <a:latin typeface="Pretendard"/>
              </a:rPr>
              <a:t>·  데이터 보강 (NULL / orphan)</a:t>
            </a:r>
          </a:p>
          <a:p>
            <a:pPr/>
            <a:r>
              <a:rPr sz="1100">
                <a:solidFill>
                  <a:srgbClr val="9CA9BE"/>
                </a:solidFill>
                <a:latin typeface="Pretendard"/>
              </a:rPr>
              <a:t>·    · 88테이블 매핑 전수감사 + zombie 정리</a:t>
            </a:r>
          </a:p>
          <a:p>
            <a:pPr/>
            <a:r>
              <a:rPr sz="1100">
                <a:solidFill>
                  <a:srgbClr val="9CA9BE"/>
                </a:solidFill>
                <a:latin typeface="Pretendard"/>
              </a:rPr>
              <a:t>·    · NULL/orphan 감사 + master 메타 backfill</a:t>
            </a:r>
          </a:p>
          <a:p>
            <a:pPr/>
            <a:r>
              <a:rPr sz="1100">
                <a:solidFill>
                  <a:srgbClr val="9CA9BE"/>
                </a:solidFill>
                <a:latin typeface="Pretendard"/>
              </a:rPr>
              <a:t>·    · 외부 API NULL fill (subway/ttareungi/hotspots)</a:t>
            </a:r>
          </a:p>
          <a:p>
            <a:pPr/>
            <a:r>
              <a:rPr sz="1100">
                <a:solidFill>
                  <a:srgbClr val="9CA9BE"/>
                </a:solidFill>
                <a:latin typeface="Pretendard"/>
              </a:rPr>
              <a:t>·    · weather_daily.snow 100% 채움</a:t>
            </a:r>
          </a:p>
          <a:p>
            <a:pPr/>
            <a:r>
              <a:rPr sz="1100">
                <a:solidFill>
                  <a:srgbClr val="6EE7B7"/>
                </a:solidFill>
                <a:latin typeface="Pretendard"/>
              </a:rPr>
              <a:t>·    · ETL 재적재: ttareungi.dong_code 마포 + ecos.cycle 100%</a:t>
            </a:r>
          </a:p>
          <a:p>
            <a:pPr/>
            <a:r>
              <a:rPr sz="1100">
                <a:solidFill>
                  <a:srgbClr val="E3E9F4"/>
                </a:solidFill>
                <a:latin typeface="Pretendard"/>
              </a:rPr>
              <a:t>·  권한 시스템 DB</a:t>
            </a:r>
          </a:p>
          <a:p>
            <a:pPr/>
            <a:r>
              <a:rPr sz="1100">
                <a:solidFill>
                  <a:srgbClr val="9CA9BE"/>
                </a:solidFill>
                <a:latin typeface="Pretendard"/>
              </a:rPr>
              <a:t>·    · users.is_superadmin 컬럼 + alembic</a:t>
            </a:r>
          </a:p>
          <a:p>
            <a:pPr/>
            <a:r>
              <a:rPr sz="1100">
                <a:solidFill>
                  <a:srgbClr val="9CA9BE"/>
                </a:solidFill>
                <a:latin typeface="Pretendard"/>
              </a:rPr>
              <a:t>·    · seed_superadmin.py CLI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3000" b="1">
                <a:solidFill>
                  <a:srgbClr val="4FC3F7"/>
                </a:solidFill>
                <a:latin typeface="Pretendard"/>
              </a:rPr>
              <a:t>정량 가치 + 산출물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FFB74D"/>
                </a:solidFill>
                <a:latin typeface="Pretendard"/>
              </a:rPr>
              <a:t>ABM 정량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554480"/>
          <a:ext cx="5486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381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FC3F7"/>
                          </a:solidFill>
                          <a:latin typeface="Pretendard"/>
                        </a:rPr>
                        <a:t>지표</a:t>
                      </a:r>
                    </a:p>
                  </a:txBody>
                  <a:tcPr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FC3F7"/>
                          </a:solidFill>
                          <a:latin typeface="Pretendard"/>
                        </a:rPr>
                        <a:t>Before</a:t>
                      </a:r>
                    </a:p>
                  </a:txBody>
                  <a:tcPr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FC3F7"/>
                          </a:solidFill>
                          <a:latin typeface="Pretendard"/>
                        </a:rPr>
                        <a:t>After</a:t>
                      </a:r>
                    </a:p>
                  </a:txBody>
                  <a:tcPr>
                    <a:solidFill>
                      <a:srgbClr val="1A223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LLM 호출 (5K agents × 24h)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120,000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11회 (정책 캐시)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시뮬 latency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기준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-49%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LLM 토큰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기준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-60%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Tier B (4,750명)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—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deterministic / 비용 0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시각화 규모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1,000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5,000 agents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1097280"/>
            <a:ext cx="5486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FFB74D"/>
                </a:solidFill>
                <a:latin typeface="Pretendard"/>
              </a:rPr>
              <a:t>DB 정량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1554480"/>
          <a:ext cx="5486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381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FC3F7"/>
                          </a:solidFill>
                          <a:latin typeface="Pretendard"/>
                        </a:rPr>
                        <a:t>지표</a:t>
                      </a:r>
                    </a:p>
                  </a:txBody>
                  <a:tcPr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FC3F7"/>
                          </a:solidFill>
                          <a:latin typeface="Pretendard"/>
                        </a:rPr>
                        <a:t>Before</a:t>
                      </a:r>
                    </a:p>
                  </a:txBody>
                  <a:tcPr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FC3F7"/>
                          </a:solidFill>
                          <a:latin typeface="Pretendard"/>
                        </a:rPr>
                        <a:t>After</a:t>
                      </a:r>
                    </a:p>
                  </a:txBody>
                  <a:tcPr>
                    <a:solidFill>
                      <a:srgbClr val="1A223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dong_code FK 그룹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0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4 그룹 (425+399 동)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ORM ↔ DB drift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감사 안 됨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87 테이블 정합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RDS 커넥션 포화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빈번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싱글톤 + pool_recycle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alembic head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phantom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정합 (37 마이그)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weather/ttareungi/ecos NULL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부분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100%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4297680"/>
            <a:ext cx="11247120" cy="36576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34340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1">
                <a:solidFill>
                  <a:srgbClr val="4FC3F7"/>
                </a:solidFill>
                <a:latin typeface="Pretendard"/>
              </a:rPr>
              <a:t>산출물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63440"/>
            <a:ext cx="1097280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/>
            <a:r>
              <a:rPr sz="1300">
                <a:solidFill>
                  <a:srgbClr val="E3E9F4"/>
                </a:solidFill>
                <a:latin typeface="Pretendard"/>
              </a:rPr>
              <a:t>·  커밋 50+ (non-merge), PR 19+ (sprint IM3-241 / 242 / 243 / 261 등)</a:t>
            </a:r>
          </a:p>
          <a:p>
            <a:pPr/>
            <a:r>
              <a:rPr sz="1300">
                <a:solidFill>
                  <a:srgbClr val="9CA9BE"/>
                </a:solidFill>
                <a:latin typeface="Pretendard"/>
              </a:rPr>
              <a:t>·  ABM 모듈: brain.py 1,552 LOC · runner.py 1,640 LOC · policy_executor 1,243 LOC</a:t>
            </a:r>
          </a:p>
          <a:p>
            <a:pPr/>
            <a:r>
              <a:rPr sz="1300">
                <a:solidFill>
                  <a:srgbClr val="9CA9BE"/>
                </a:solidFill>
                <a:latin typeface="Pretendard"/>
              </a:rPr>
              <a:t>·  DB 모듈: models.py 2,010 LOC · 37 alembic 마이그레이션</a:t>
            </a:r>
          </a:p>
          <a:p>
            <a:pPr/>
            <a:r>
              <a:rPr sz="1300">
                <a:solidFill>
                  <a:srgbClr val="9CA9BE"/>
                </a:solidFill>
                <a:latin typeface="Pretendard"/>
              </a:rPr>
              <a:t>·  문서: docs/issues/2026-05-05-codebase-ultrareview.md (392줄)</a:t>
            </a:r>
          </a:p>
          <a:p>
            <a:pPr/>
            <a:r>
              <a:rPr sz="1300">
                <a:solidFill>
                  <a:srgbClr val="9CA9BE"/>
                </a:solidFill>
                <a:latin typeface="Pretendard"/>
              </a:rPr>
              <a:t>·  관련 시드 / 도구: seed_superadmin.py, RAG trace JSONL, audit_v4 CV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