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E3E9F4"/>
                </a:solidFill>
                <a:latin typeface="Pretendard"/>
              </a:rPr>
              <a:t>SPOTTER — 현재 상태 브리핑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CA9BE"/>
                </a:solidFill>
                <a:latin typeface="Pretendard"/>
              </a:rPr>
              <a:t>기준: origin/dev (alembic a8f3d2e7c1b9) · 2026-05-06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오늘 다룰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3E9F4"/>
                </a:solidFill>
                <a:latin typeface="Pretendard"/>
              </a:rPr>
              <a:t>·  ABM 시뮬레이션 — 5,000 agents 매장별 매출 추정</a:t>
            </a:r>
          </a:p>
          <a:p>
            <a:r>
              <a:rPr sz="1600">
                <a:solidFill>
                  <a:srgbClr val="E3E9F4"/>
                </a:solidFill>
                <a:latin typeface="Pretendard"/>
              </a:rPr>
              <a:t>·  DB / 데이터 — 87 테이블 / 외부 API 통합</a:t>
            </a:r>
          </a:p>
          <a:p>
            <a:r>
              <a:rPr sz="1600">
                <a:solidFill>
                  <a:srgbClr val="E3E9F4"/>
                </a:solidFill>
                <a:latin typeface="Pretendard"/>
              </a:rPr>
              <a:t>·  권한 시스템 — master / manager / superadmin 3계층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FC3F7"/>
                </a:solidFill>
                <a:latin typeface="Pretendard"/>
              </a:rPr>
              <a:t>ABM 시뮬레이션 (현재)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CA9BE"/>
                </a:solidFill>
                <a:latin typeface="Pretendard"/>
              </a:rPr>
              <a:t>마포구 5,000 가상 에이전트가 매 시간 행동 결정 → 매장별 매출 추정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라우트 / 모드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20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779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엔드포인트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default 모드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옵션 모드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POST /simulate-abm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use_policy=True → LLM 0회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enable_llm_decisions: Tier S 만 LLM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n_agents 파라미터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5,000 (production)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enable_llm_thought: Tier S thought feed 별도 LLM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546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현재 활성 메모리 / 보조 시스템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520440"/>
          <a:ext cx="112471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27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시스템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활성 여부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MemoryStore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raw 행동 로그 (deque 200) + 일일 요약 (LLM 0)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✅ 사용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policy_cache.json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역할×날씨×시간 정책 (Ollama 로 11회 cold gen)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✅ 사용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Archetype 30+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role 안 다양성 (ARCHETYPES dict multiplier)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✅ 사용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Memory Seeder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14일 가상 visit prefill (cold start 완화)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❌ /simulate-abm 비활성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PgVectorMemory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Tier S semantic search (BGE-M3)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❌ 옵션 (default off)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4864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한 줄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EE7B7"/>
                </a:solidFill>
                <a:latin typeface="Pretendard"/>
              </a:rPr>
              <a:t>default = 전 Tier policy_decide (LLM 0회). Tier S 50명만 옵션으로 LLM 호출 가능.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FC3F7"/>
                </a:solidFill>
                <a:latin typeface="Pretendard"/>
              </a:rPr>
              <a:t>DB / 데이터 (현재)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CA9BE"/>
                </a:solidFill>
                <a:latin typeface="Pretendard"/>
              </a:rPr>
              <a:t>PostgreSQL 87 public 테이블 · ORM 77 클래스 · alembic head a8f3d2e7c1b9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핵심 테이블 (실 row count)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4864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27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테이블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row 수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ftc_brand_franchise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34,708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biz_brand_mapping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5,867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users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23 (superadmin 1)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simulation_ai (이력)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simulation_foresee (이력)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B74D"/>
                </a:solidFill>
                <a:latin typeface="Pretendard"/>
              </a:rPr>
              <a:t>외부 API 연결 (실 적재)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3E9F4"/>
                </a:solidFill>
                <a:latin typeface="Pretendard"/>
              </a:rPr>
              <a:t>·  서울열린데이터 — flpop / golmok / district_sales / 지하철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SGIS — 인구 / 가구 / 사업체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MOLIT — 부동산 실거래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공정거래위원회 (FTC) — 프랜차이즈 정보공개서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ECOS — 한국은행 경기 지표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기상청 — weather_daily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Kakao — kakao_store / kakao_store_menu</a:t>
            </a:r>
          </a:p>
          <a:p>
            <a:r>
              <a:rPr sz="1100">
                <a:solidFill>
                  <a:srgbClr val="E3E9F4"/>
                </a:solidFill>
                <a:latin typeface="Pretendard"/>
              </a:rPr>
              <a:t>·  공공자전거 — ttareungi.dong_code 마포 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4712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Pretendard"/>
              </a:rPr>
              <a:t>권한 시스템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937760"/>
          <a:ext cx="112471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703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테이블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C3F7"/>
                          </a:solidFill>
                          <a:latin typeface="Pretendard"/>
                        </a:rPr>
                        <a:t>데이터 가시 범위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master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users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본인 + 소속 매니저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manager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manager_users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본인만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superadmin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users.is_superadmin=true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3E9F4"/>
                          </a:solidFill>
                          <a:latin typeface="Pretendard"/>
                        </a:rPr>
                        <a:t>전체 가맹본부 (시뮬 이력)</a:t>
                      </a:r>
                    </a:p>
                  </a:txBody>
                  <a:tcPr>
                    <a:solidFill>
                      <a:srgbClr val="121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