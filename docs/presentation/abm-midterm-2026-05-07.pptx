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6868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4E"/>
                </a:solidFill>
              </a:defRPr>
            </a:pPr>
            <a:r>
              <a:t>6 채널 → 26 테이블, 분산된 데이터를 한 곳으로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9601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PostgreSQL 메인 RDB · PGVector 법률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1828800" cy="8686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KT</a:t>
            </a:r>
          </a:p>
          <a:p>
            <a:pPr algn="ctr">
              <a:defRPr sz="1100">
                <a:solidFill>
                  <a:srgbClr val="F3F4F6"/>
                </a:solidFill>
              </a:defRPr>
            </a:pPr>
            <a:r>
              <a:t>생활인구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04872" y="1691640"/>
            <a:ext cx="1828800" cy="8686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카카오</a:t>
            </a:r>
          </a:p>
          <a:p>
            <a:pPr algn="ctr">
              <a:defRPr sz="1100">
                <a:solidFill>
                  <a:srgbClr val="F3F4F6"/>
                </a:solidFill>
              </a:defRPr>
            </a:pPr>
            <a:r>
              <a:t>매장 16K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691640"/>
            <a:ext cx="1828800" cy="868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통계청</a:t>
            </a:r>
          </a:p>
          <a:p>
            <a:pPr algn="ctr">
              <a:defRPr sz="1100">
                <a:solidFill>
                  <a:srgbClr val="F3F4F6"/>
                </a:solidFill>
              </a:defRPr>
            </a:pPr>
            <a:r>
              <a:t>SGIS 인구·가구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0216" y="1691640"/>
            <a:ext cx="1828800" cy="8686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네이버</a:t>
            </a:r>
          </a:p>
          <a:p>
            <a:pPr algn="ctr">
              <a:defRPr sz="1100">
                <a:solidFill>
                  <a:srgbClr val="F3F4F6"/>
                </a:solidFill>
              </a:defRPr>
            </a:pPr>
            <a:r>
              <a:t>트렌드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7888" y="1691640"/>
            <a:ext cx="1828800" cy="8686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공정위</a:t>
            </a:r>
          </a:p>
          <a:p>
            <a:pPr algn="ctr">
              <a:defRPr sz="1100">
                <a:solidFill>
                  <a:srgbClr val="F3F4F6"/>
                </a:solidFill>
              </a:defRPr>
            </a:pPr>
            <a:r>
              <a:t>FTC 프랜차이즈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95559" y="1691640"/>
            <a:ext cx="1828800" cy="8686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서울</a:t>
            </a:r>
          </a:p>
          <a:p>
            <a:pPr algn="ctr">
              <a:defRPr sz="1100">
                <a:solidFill>
                  <a:srgbClr val="F3F4F6"/>
                </a:solidFill>
              </a:defRPr>
            </a:pPr>
            <a:r>
              <a:t>상권 매출·임대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68680" y="2697480"/>
            <a:ext cx="365760" cy="365760"/>
          </a:xfrm>
          <a:prstGeom prst="downArrow">
            <a:avLst/>
          </a:prstGeom>
          <a:solidFill>
            <a:srgbClr val="1F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2788920" y="2697480"/>
            <a:ext cx="365760" cy="365760"/>
          </a:xfrm>
          <a:prstGeom prst="downArrow">
            <a:avLst/>
          </a:prstGeom>
          <a:solidFill>
            <a:srgbClr val="1F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4709160" y="2697480"/>
            <a:ext cx="365760" cy="365760"/>
          </a:xfrm>
          <a:prstGeom prst="downArrow">
            <a:avLst/>
          </a:prstGeom>
          <a:solidFill>
            <a:srgbClr val="1F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6629400" y="2697480"/>
            <a:ext cx="365760" cy="365760"/>
          </a:xfrm>
          <a:prstGeom prst="downArrow">
            <a:avLst/>
          </a:prstGeom>
          <a:solidFill>
            <a:srgbClr val="1F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8549640" y="2697480"/>
            <a:ext cx="365760" cy="365760"/>
          </a:xfrm>
          <a:prstGeom prst="downArrow">
            <a:avLst/>
          </a:prstGeom>
          <a:solidFill>
            <a:srgbClr val="1F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10469880" y="2697480"/>
            <a:ext cx="365760" cy="365760"/>
          </a:xfrm>
          <a:prstGeom prst="downArrow">
            <a:avLst/>
          </a:prstGeom>
          <a:solidFill>
            <a:srgbClr val="1F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86000" y="3246120"/>
            <a:ext cx="7589520" cy="1188720"/>
          </a:xfrm>
          <a:prstGeom prst="roundRect">
            <a:avLst/>
          </a:prstGeom>
          <a:solidFill>
            <a:srgbClr val="1F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PostgreSQL — 26 테이블</a:t>
            </a:r>
          </a:p>
          <a:p>
            <a:pPr algn="ctr">
              <a:spcBef>
                <a:spcPts val="400"/>
              </a:spcBef>
              <a:defRPr sz="1300">
                <a:solidFill>
                  <a:srgbClr val="F3F4F6"/>
                </a:solidFill>
              </a:defRPr>
            </a:pPr>
            <a:r>
              <a:t>SQLAlchemy 2.0 async · pool 25 · alembic 30+ migration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663440"/>
            <a:ext cx="2743200" cy="100584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상권/매출</a:t>
            </a:r>
          </a:p>
          <a:p>
            <a:pPr>
              <a:spcBef>
                <a:spcPts val="300"/>
              </a:spcBef>
              <a:defRPr sz="1000">
                <a:solidFill>
                  <a:srgbClr val="374151"/>
                </a:solidFill>
                <a:latin typeface="Consolas"/>
              </a:defRPr>
            </a:pPr>
            <a:r>
              <a:t>district_sales · golmok_*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4663440"/>
            <a:ext cx="2743200" cy="100584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인구</a:t>
            </a:r>
          </a:p>
          <a:p>
            <a:pPr>
              <a:spcBef>
                <a:spcPts val="300"/>
              </a:spcBef>
              <a:defRPr sz="1000">
                <a:solidFill>
                  <a:srgbClr val="374151"/>
                </a:solidFill>
                <a:latin typeface="Consolas"/>
              </a:defRPr>
            </a:pPr>
            <a:r>
              <a:t>living_pop · sgis_* · resident_*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663440"/>
            <a:ext cx="2743200" cy="100584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8B5CF6"/>
                </a:solidFill>
              </a:defRPr>
            </a:pPr>
            <a:r>
              <a:t>매장/브랜드</a:t>
            </a:r>
          </a:p>
          <a:p>
            <a:pPr>
              <a:spcBef>
                <a:spcPts val="300"/>
              </a:spcBef>
              <a:defRPr sz="1000">
                <a:solidFill>
                  <a:srgbClr val="374151"/>
                </a:solidFill>
                <a:latin typeface="Consolas"/>
              </a:defRPr>
            </a:pPr>
            <a:r>
              <a:t>kakao_store · ftc_* · biz_*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4663440"/>
            <a:ext cx="2743200" cy="100584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부동산</a:t>
            </a:r>
          </a:p>
          <a:p>
            <a:pPr>
              <a:spcBef>
                <a:spcPts val="300"/>
              </a:spcBef>
              <a:defRPr sz="1000">
                <a:solidFill>
                  <a:srgbClr val="374151"/>
                </a:solidFill>
                <a:latin typeface="Consolas"/>
              </a:defRPr>
            </a:pPr>
            <a:r>
              <a:t>rent_cost · jeonse_* · apt_*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852160"/>
            <a:ext cx="112471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500" b="1">
                <a:solidFill>
                  <a:srgbClr val="8B5CF6"/>
                </a:solidFill>
              </a:defRPr>
            </a:pPr>
            <a:r>
              <a:t>+  PGVector (법률 RAG)</a:t>
            </a:r>
          </a:p>
          <a:p>
            <a:pPr>
              <a:spcBef>
                <a:spcPts val="200"/>
              </a:spcBef>
              <a:defRPr sz="1200">
                <a:solidFill>
                  <a:srgbClr val="374151"/>
                </a:solidFill>
              </a:defRPr>
            </a:pPr>
            <a:r>
              <a:t>BAAI/bge-m3 1024차원 임베딩 · HNSW index · 10K+ 법률 chunk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6868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4E"/>
                </a:solidFill>
              </a:defRPr>
            </a:pPr>
            <a:r>
              <a:t>카페 차리기 전, 1일 시뮬 × 5 seed로 미리 답을 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9418320" cy="1371600"/>
          </a:xfrm>
          <a:prstGeom prst="roundRect">
            <a:avLst/>
          </a:prstGeom>
          <a:solidFill>
            <a:srgbClr val="F3F4F6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ctr">
              <a:defRPr sz="2600" b="1">
                <a:solidFill>
                  <a:srgbClr val="1F2D4E"/>
                </a:solidFill>
              </a:defRPr>
            </a:pPr>
            <a:r>
              <a:t>“망원동 빈 가게에 카페 차리려는데, 잘 될까요?”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383280"/>
            <a:ext cx="5486400" cy="3017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1000"/>
              </a:spcAft>
              <a:defRPr sz="2200" b="1">
                <a:solidFill>
                  <a:srgbClr val="EF4444"/>
                </a:solidFill>
              </a:defRPr>
            </a:pPr>
            <a:r>
              <a:t>기존 방식</a:t>
            </a:r>
          </a:p>
          <a:p>
            <a:pPr>
              <a:spcAft>
                <a:spcPts val="500"/>
              </a:spcAft>
              <a:defRPr sz="1800">
                <a:solidFill>
                  <a:srgbClr val="374151"/>
                </a:solidFill>
              </a:defRPr>
            </a:pPr>
            <a:r>
              <a:t>· 부동산 수수료 + 컨설팅 수백만원</a:t>
            </a:r>
          </a:p>
          <a:p>
            <a:pPr>
              <a:spcAft>
                <a:spcPts val="500"/>
              </a:spcAft>
              <a:defRPr sz="1800">
                <a:solidFill>
                  <a:srgbClr val="374151"/>
                </a:solidFill>
              </a:defRPr>
            </a:pPr>
            <a:r>
              <a:t>· 6개월 운영 후 망하면 손해 1억</a:t>
            </a:r>
          </a:p>
          <a:p>
            <a:pPr>
              <a:spcAft>
                <a:spcPts val="500"/>
              </a:spcAft>
              <a:defRPr sz="1800">
                <a:solidFill>
                  <a:srgbClr val="374151"/>
                </a:solidFill>
              </a:defRPr>
            </a:pPr>
            <a:r>
              <a:t>· 실패 비용 = 실제 손실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383280"/>
            <a:ext cx="5486400" cy="3017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1000"/>
              </a:spcAft>
              <a:defRPr sz="2200" b="1">
                <a:solidFill>
                  <a:srgbClr val="10B981"/>
                </a:solidFill>
              </a:defRPr>
            </a:pPr>
            <a:r>
              <a:t>ABM</a:t>
            </a:r>
          </a:p>
          <a:p>
            <a:pPr>
              <a:spcAft>
                <a:spcPts val="500"/>
              </a:spcAft>
              <a:defRPr sz="1800">
                <a:solidFill>
                  <a:srgbClr val="374151"/>
                </a:solidFill>
              </a:defRPr>
            </a:pPr>
            <a:r>
              <a:t>· 가상 시민 5,000명에게 카페 차려봄</a:t>
            </a:r>
          </a:p>
          <a:p>
            <a:pPr>
              <a:spcAft>
                <a:spcPts val="500"/>
              </a:spcAft>
              <a:defRPr sz="1800">
                <a:solidFill>
                  <a:srgbClr val="374151"/>
                </a:solidFill>
              </a:defRPr>
            </a:pPr>
            <a:r>
              <a:t>· 1일 시뮬 × 5 seed (PSE) → 분기/연 환산</a:t>
            </a:r>
          </a:p>
          <a:p>
            <a:pPr>
              <a:spcAft>
                <a:spcPts val="500"/>
              </a:spcAft>
              <a:defRPr sz="1800">
                <a:solidFill>
                  <a:srgbClr val="374151"/>
                </a:solidFill>
              </a:defRPr>
            </a:pPr>
            <a:r>
              <a:t>· 실패 비용 = 0원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6868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4E"/>
                </a:solidFill>
              </a:defRPr>
            </a:pPr>
            <a:r>
              <a:t>5,000명, NVIDIA 7,187 페르소나로 채운다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9601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기본 운영 LLM 0회 — Tier S Plan은 옵션 (Stanford UIST'23, default off)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657600" cy="1828800"/>
          </a:xfrm>
          <a:prstGeom prst="roundRect">
            <a:avLst/>
          </a:prstGeom>
          <a:solidFill>
            <a:srgbClr val="F3F4F6"/>
          </a:solidFill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4400" b="1">
                <a:solidFill>
                  <a:srgbClr val="8B5CF6"/>
                </a:solidFill>
              </a:defRPr>
            </a:pPr>
            <a:r>
              <a:t>7,187</a:t>
            </a:r>
          </a:p>
          <a:p>
            <a:pPr algn="ctr">
              <a:defRPr sz="1400">
                <a:solidFill>
                  <a:srgbClr val="374151"/>
                </a:solidFill>
              </a:defRPr>
            </a:pPr>
            <a:r>
              <a:t>NVIDIA Nemotron 합성 페르소나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91640"/>
            <a:ext cx="3657600" cy="1828800"/>
          </a:xfrm>
          <a:prstGeom prst="roundRect">
            <a:avLst/>
          </a:prstGeom>
          <a:solidFill>
            <a:srgbClr val="F3F4F6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26 컬럼</a:t>
            </a:r>
          </a:p>
          <a:p>
            <a:pPr algn="ctr">
              <a:defRPr sz="1400">
                <a:solidFill>
                  <a:srgbClr val="374151"/>
                </a:solidFill>
              </a:defRPr>
            </a:pPr>
            <a:r>
              <a:t>직업·학력·취미·가치관 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91640"/>
            <a:ext cx="3703320" cy="1828800"/>
          </a:xfrm>
          <a:prstGeom prst="roundRect">
            <a:avLst/>
          </a:prstGeom>
          <a:solidFill>
            <a:srgbClr val="F3F4F6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0회</a:t>
            </a:r>
          </a:p>
          <a:p>
            <a:pPr algn="ctr">
              <a:defRPr sz="1400">
                <a:solidFill>
                  <a:srgbClr val="374151"/>
                </a:solidFill>
              </a:defRPr>
            </a:pPr>
            <a:r>
              <a:t>vacancy 평가 LLM 호출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39"/>
            <a:ext cx="11109960" cy="1280160"/>
          </a:xfrm>
          <a:prstGeom prst="roundRect">
            <a:avLst/>
          </a:prstGeom>
          <a:solidFill>
            <a:srgbClr val="1F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Nemotron 7,187 (마포 합성)   →   sex + age_bucket 매칭 sample   →   5,000 가상 시민</a:t>
            </a:r>
          </a:p>
          <a:p>
            <a:pPr algn="ctr">
              <a:spcBef>
                <a:spcPts val="800"/>
              </a:spcBef>
              <a:defRPr sz="1300">
                <a:solidFill>
                  <a:srgbClr val="F3F4F6"/>
                </a:solidFill>
              </a:defRPr>
            </a:pPr>
            <a:r>
              <a:t>occupation · education · hobbies · professional / sports / arts / culinary persona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12080"/>
            <a:ext cx="5486400" cy="1371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행동 결정 (default)</a:t>
            </a:r>
          </a:p>
          <a:p>
            <a:pPr>
              <a:spcAft>
                <a:spcPts val="500"/>
              </a:spcAft>
              <a:defRPr sz="1400">
                <a:solidFill>
                  <a:srgbClr val="374151"/>
                </a:solidFill>
              </a:defRPr>
            </a:pPr>
            <a:r>
              <a:t>· policy_executor.py — 순수 Python 가중합</a:t>
            </a:r>
          </a:p>
          <a:p>
            <a:pPr>
              <a:spcAft>
                <a:spcPts val="500"/>
              </a:spcAft>
              <a:defRPr sz="1400">
                <a:solidFill>
                  <a:srgbClr val="374151"/>
                </a:solidFill>
              </a:defRPr>
            </a:pPr>
            <a:r>
              <a:t>· 거리·선호·dong_affinity·시간×동×연령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5212080"/>
            <a:ext cx="5394960" cy="1371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옵션 LLM (use_llm_decisions=True)</a:t>
            </a:r>
          </a:p>
          <a:p>
            <a:pPr>
              <a:spcAft>
                <a:spcPts val="500"/>
              </a:spcAft>
              <a:defRPr sz="1400">
                <a:solidFill>
                  <a:srgbClr val="374151"/>
                </a:solidFill>
              </a:defRPr>
            </a:pPr>
            <a:r>
              <a:t>· Tier S 250명 하루 1회 plan batch (Stanford UIST'23)</a:t>
            </a:r>
          </a:p>
          <a:p>
            <a:pPr>
              <a:spcAft>
                <a:spcPts val="500"/>
              </a:spcAft>
              <a:defRPr sz="1400">
                <a:solidFill>
                  <a:srgbClr val="374151"/>
                </a:solidFill>
              </a:defRPr>
            </a:pPr>
            <a:r>
              <a:t>· vacancy 평가는 mock 강제 → Optuna 튜닝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6868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4E"/>
                </a:solidFill>
              </a:defRPr>
            </a:pPr>
            <a:r>
              <a:t>사람처럼 행동하는 가상 시민 — 5 Layer 인간다움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691640"/>
            <a:ext cx="1005840" cy="10058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 rIns="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880360"/>
            <a:ext cx="228600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500"/>
              </a:spcAft>
              <a:defRPr sz="2000" b="1">
                <a:solidFill>
                  <a:srgbClr val="3B82F6"/>
                </a:solidFill>
              </a:defRPr>
            </a:pPr>
            <a:r>
              <a:t>정책</a:t>
            </a:r>
          </a:p>
          <a:p>
            <a:pPr algn="ctr"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성향 (mobility, 카테고리 선호)</a:t>
            </a:r>
          </a:p>
          <a:p>
            <a:pPr algn="ctr"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role × weather × time_block</a:t>
            </a:r>
          </a:p>
        </p:txBody>
      </p:sp>
      <p:sp>
        <p:nvSpPr>
          <p:cNvPr id="7" name="Oval 6"/>
          <p:cNvSpPr/>
          <p:nvPr/>
        </p:nvSpPr>
        <p:spPr>
          <a:xfrm>
            <a:off x="3337559" y="1691640"/>
            <a:ext cx="1005840" cy="10058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 rIns="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2880360"/>
            <a:ext cx="228600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500"/>
              </a:spcAft>
              <a:defRPr sz="2000" b="1">
                <a:solidFill>
                  <a:srgbClr val="10B981"/>
                </a:solidFill>
              </a:defRPr>
            </a:pPr>
            <a:r>
              <a:t>기억</a:t>
            </a:r>
          </a:p>
          <a:p>
            <a:pPr algn="ctr"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visit_history · learned_prefs</a:t>
            </a:r>
          </a:p>
          <a:p>
            <a:pPr algn="ctr"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blacklist · habit_store</a:t>
            </a:r>
          </a:p>
        </p:txBody>
      </p:sp>
      <p:sp>
        <p:nvSpPr>
          <p:cNvPr id="9" name="Oval 8"/>
          <p:cNvSpPr/>
          <p:nvPr/>
        </p:nvSpPr>
        <p:spPr>
          <a:xfrm>
            <a:off x="5669280" y="1691640"/>
            <a:ext cx="1005840" cy="10058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 rIns="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880360"/>
            <a:ext cx="228600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500"/>
              </a:spcAft>
              <a:defRPr sz="2000" b="1">
                <a:solidFill>
                  <a:srgbClr val="F59E0B"/>
                </a:solidFill>
              </a:defRPr>
            </a:pPr>
            <a:r>
              <a:t>내부 상태</a:t>
            </a:r>
          </a:p>
          <a:p>
            <a:pPr algn="ctr"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hunger · fatigue · mood</a:t>
            </a:r>
          </a:p>
          <a:p>
            <a:pPr algn="ctr"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매 tick 변화 → 의사결정 가중</a:t>
            </a:r>
          </a:p>
        </p:txBody>
      </p:sp>
      <p:sp>
        <p:nvSpPr>
          <p:cNvPr id="11" name="Oval 10"/>
          <p:cNvSpPr/>
          <p:nvPr/>
        </p:nvSpPr>
        <p:spPr>
          <a:xfrm>
            <a:off x="8000999" y="1691640"/>
            <a:ext cx="1005840" cy="10058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 rIns="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19" y="2880360"/>
            <a:ext cx="228600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500"/>
              </a:spcAft>
              <a:defRPr sz="2000" b="1">
                <a:solidFill>
                  <a:srgbClr val="8B5CF6"/>
                </a:solidFill>
              </a:defRPr>
            </a:pPr>
            <a:r>
              <a:t>시간 · 날씨 적응</a:t>
            </a:r>
          </a:p>
          <a:p>
            <a:pPr algn="ctr"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5 시간대 곱셈 테이블</a:t>
            </a:r>
          </a:p>
          <a:p>
            <a:pPr algn="ctr"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동 character cat_boost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9" y="1691640"/>
            <a:ext cx="1005840" cy="10058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bIns="0" rIns="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2880360"/>
            <a:ext cx="228600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500"/>
              </a:spcAft>
              <a:defRPr sz="2000" b="1">
                <a:solidFill>
                  <a:srgbClr val="EC4899"/>
                </a:solidFill>
              </a:defRPr>
            </a:pPr>
            <a:r>
              <a:t>소셜</a:t>
            </a:r>
          </a:p>
          <a:p>
            <a:pPr algn="ctr"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Dunbar k=5 친구</a:t>
            </a:r>
          </a:p>
          <a:p>
            <a:pPr algn="ctr"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만족도 &gt; 0.7 → 추천 전파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i="1">
                <a:solidFill>
                  <a:srgbClr val="6B7280"/>
                </a:solidFill>
              </a:defRPr>
            </a:pPr>
            <a:r>
              <a:t>agents.py · 정책만 있으면 똑같이 행동 → 5 Layer 더해서 사람마다 달라진다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6868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4E"/>
                </a:solidFill>
              </a:defRPr>
            </a:pPr>
            <a:r>
              <a:t>신규 진입은 시장을 키우는가, 빼앗는가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11247120" cy="1280160"/>
          </a:xfrm>
          <a:prstGeom prst="roundRect">
            <a:avLst/>
          </a:prstGeom>
          <a:solidFill>
            <a:srgbClr val="1F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측정 방법 — 같은 seed, 두 번 시뮬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  baseline (vacancy 없이)   vs   with_vacancy   →   동 카페 합계 차이 = 카니발 / 시너지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46120"/>
            <a:ext cx="5029200" cy="1828800"/>
          </a:xfrm>
          <a:prstGeom prst="roundRect">
            <a:avLst/>
          </a:prstGeom>
          <a:solidFill>
            <a:srgbClr val="F3F4F6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3800" b="1">
                <a:solidFill>
                  <a:srgbClr val="3B82F6"/>
                </a:solidFill>
              </a:defRPr>
            </a:pPr>
            <a:r>
              <a:t>+1.4 ± 3.5%</a:t>
            </a:r>
          </a:p>
          <a:p>
            <a:pPr algn="ctr">
              <a:defRPr sz="1400">
                <a:solidFill>
                  <a:srgbClr val="374151"/>
                </a:solidFill>
              </a:defRPr>
            </a:pPr>
            <a:r>
              <a:t>동 카페 시장 성장률 (95% CI)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246120"/>
            <a:ext cx="5029200" cy="1828800"/>
          </a:xfrm>
          <a:prstGeom prst="roundRect">
            <a:avLst/>
          </a:prstGeom>
          <a:solidFill>
            <a:srgbClr val="F3F4F6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3200" b="1">
                <a:solidFill>
                  <a:srgbClr val="EF4444"/>
                </a:solidFill>
              </a:defRPr>
            </a:pPr>
            <a:r>
              <a:t>CI 0 포함</a:t>
            </a:r>
          </a:p>
          <a:p>
            <a:pPr algn="ctr">
              <a:defRPr sz="1400">
                <a:solidFill>
                  <a:srgbClr val="374151"/>
                </a:solidFill>
              </a:defRPr>
            </a:pPr>
            <a:r>
              <a:t>통계적으로 시장 확장 없음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349240"/>
            <a:ext cx="11247120" cy="1280160"/>
          </a:xfrm>
          <a:prstGeom prst="roundRect">
            <a:avLst/>
          </a:prstGeom>
          <a:solidFill>
            <a:srgbClr val="DCFCE7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발견 — zero-sum 구조</a:t>
            </a:r>
          </a:p>
          <a:p>
            <a:pPr>
              <a:spcBef>
                <a:spcPts val="800"/>
              </a:spcBef>
              <a:defRPr sz="1500">
                <a:solidFill>
                  <a:srgbClr val="374151"/>
                </a:solidFill>
              </a:defRPr>
            </a:pPr>
            <a:r>
              <a:t>마포 카페 시장은 신규 진입에 zero-sum — 새 카페 손님은 동 다른 카페 손님 이동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