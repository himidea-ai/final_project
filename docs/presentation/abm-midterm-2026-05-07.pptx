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문제 — 비용 vs 다양성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EF4444"/>
                </a:solidFill>
              </a:defRPr>
            </a:pPr>
            <a:r>
              <a:t>$0.37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v1 run당 LLM 비용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82880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F59E0B"/>
                </a:solidFill>
              </a:defRPr>
            </a:pPr>
            <a:r>
              <a:t>0.58~0.76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v1 Pearson 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3B82F6"/>
                </a:solidFill>
              </a:defRPr>
            </a:pPr>
            <a:r>
              <a:t>1000+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마포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매 tick LLM 호출 → agent·일수 늘릴수록 비용 폭증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룰 기반만 쓰면 시간대·날씨 반응 다양성 손실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Optuna 100 trials = 비용 폭발 → 튜닝 불가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3 Layer 하이브리드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3383280" cy="30175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L1</a:t>
            </a:r>
          </a:p>
          <a:p>
            <a:pPr algn="ctr">
              <a:spcBef>
                <a:spcPts val="2000"/>
              </a:spcBef>
              <a:defRPr sz="2200" b="1">
                <a:solidFill>
                  <a:srgbClr val="FFFFFF"/>
                </a:solidFill>
              </a:defRPr>
            </a:pPr>
            <a:r>
              <a:t>Policy</a:t>
            </a:r>
            <a:br/>
            <a:r>
              <a:t>Generation</a:t>
            </a:r>
          </a:p>
          <a:p>
            <a:pPr algn="ctr">
              <a:spcBef>
                <a:spcPts val="1200"/>
              </a:spcBef>
              <a:defRPr sz="1600">
                <a:solidFill>
                  <a:srgbClr val="F3F4F6"/>
                </a:solidFill>
              </a:defRPr>
            </a:pPr>
            <a:r>
              <a:t>LLM 11회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43400" y="3291840"/>
            <a:ext cx="365760" cy="548640"/>
          </a:xfrm>
          <a:prstGeom prst="rightArrow">
            <a:avLst/>
          </a:prstGeom>
          <a:solidFill>
            <a:srgbClr val="1F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709160" y="2103120"/>
            <a:ext cx="3383280" cy="30175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L2</a:t>
            </a:r>
          </a:p>
          <a:p>
            <a:pPr algn="ctr">
              <a:spcBef>
                <a:spcPts val="2000"/>
              </a:spcBef>
              <a:defRPr sz="2200" b="1">
                <a:solidFill>
                  <a:srgbClr val="FFFFFF"/>
                </a:solidFill>
              </a:defRPr>
            </a:pPr>
            <a:r>
              <a:t>Time +</a:t>
            </a:r>
            <a:br/>
            <a:r>
              <a:t>Archetype</a:t>
            </a:r>
          </a:p>
          <a:p>
            <a:pPr algn="ctr">
              <a:spcBef>
                <a:spcPts val="1200"/>
              </a:spcBef>
              <a:defRPr sz="1600">
                <a:solidFill>
                  <a:srgbClr val="F3F4F6"/>
                </a:solidFill>
              </a:defRPr>
            </a:pPr>
            <a:r>
              <a:t>곱셈 테이블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138160" y="3291840"/>
            <a:ext cx="365760" cy="548640"/>
          </a:xfrm>
          <a:prstGeom prst="rightArrow">
            <a:avLst/>
          </a:prstGeom>
          <a:solidFill>
            <a:srgbClr val="1F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0" y="2103120"/>
            <a:ext cx="3383280" cy="30175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L3</a:t>
            </a:r>
          </a:p>
          <a:p>
            <a:pPr algn="ctr">
              <a:spcBef>
                <a:spcPts val="2000"/>
              </a:spcBef>
              <a:defRPr sz="2200" b="1">
                <a:solidFill>
                  <a:srgbClr val="FFFFFF"/>
                </a:solidFill>
              </a:defRPr>
            </a:pPr>
            <a:r>
              <a:t>Agent</a:t>
            </a:r>
            <a:br/>
            <a:r>
              <a:t>Decision</a:t>
            </a:r>
          </a:p>
          <a:p>
            <a:pPr algn="ctr">
              <a:spcBef>
                <a:spcPts val="1200"/>
              </a:spcBef>
              <a:defRPr sz="1600">
                <a:solidFill>
                  <a:srgbClr val="F3F4F6"/>
                </a:solidFill>
              </a:defRPr>
            </a:pPr>
            <a:r>
              <a:t>Tier S/A/B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669280"/>
            <a:ext cx="338328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policy_generator.py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5669280"/>
            <a:ext cx="33832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archetypes.py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5669280"/>
            <a:ext cx="3383280" cy="4114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>
              <a:defRPr sz="1300" b="1">
                <a:solidFill>
                  <a:srgbClr val="FFFFFF"/>
                </a:solidFill>
                <a:latin typeface="Consolas"/>
              </a:defRPr>
            </a:pPr>
            <a:r>
              <a:t>brain.py + policy_executor.py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Layer 1 — Policy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7432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3B82F6"/>
                </a:solidFill>
              </a:defRPr>
            </a:pPr>
            <a:r>
              <a:t>11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LLM 호출 (1회)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828800"/>
            <a:ext cx="27432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10B981"/>
                </a:solidFill>
              </a:defRPr>
            </a:pPr>
            <a:r>
              <a:t>6 × 2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role × weather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828800"/>
            <a:ext cx="27432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8B5CF6"/>
                </a:solidFill>
              </a:defRPr>
            </a:pPr>
            <a:r>
              <a:t>0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재실행 시 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역할 6종 × 날씨 2종 = 11 base PersonaPolicy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PersonaPolicy = 0~1 float 12 필드 + dong_affinity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OpenAI gpt-4o-mini → Ollama qwen2.5:3b → mock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policy_cache.json 영속 → 재실행 0회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Layer 2 — 시간 확장 + Archetype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10B981"/>
                </a:solidFill>
              </a:defRPr>
            </a:pPr>
            <a:r>
              <a:t>11 → 66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정책 확장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82880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3B82F6"/>
                </a:solidFill>
              </a:defRPr>
            </a:pPr>
            <a:r>
              <a:t>30+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Archetype 종류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F59E0B"/>
                </a:solidFill>
              </a:defRPr>
            </a:pPr>
            <a:r>
              <a:t>±15%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개체 jitter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_TIME_BLOCK_DELTAS — morning/lunch/afternoon/evening/night 곱셈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_ROLE_TIME_OVERRIDES — ext_visitor evening pub ×1.7 등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Archetype: homebody / night_owl / trendy_local / fitness ...</a:t>
            </a:r>
          </a:p>
          <a:p>
            <a:pPr>
              <a:spcAft>
                <a:spcPts val="1800"/>
              </a:spcAft>
              <a:defRPr sz="2000">
                <a:solidFill>
                  <a:srgbClr val="374151"/>
                </a:solidFill>
              </a:defRPr>
            </a:pPr>
            <a:r>
              <a:t>1000명 × 66 정책 × ±15% = 사실상 1000 고유 행동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Layer 3 — Tier 라우팅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383280" cy="3840480"/>
          </a:xfrm>
          <a:prstGeom prst="roundRect">
            <a:avLst/>
          </a:prstGeom>
          <a:solidFill>
            <a:srgbClr val="F3F4F6"/>
          </a:solidFill>
          <a:ln w="381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defRPr sz="2800" b="1">
                <a:solidFill>
                  <a:srgbClr val="8B5CF6"/>
                </a:solidFill>
              </a:defRPr>
            </a:pPr>
            <a:r>
              <a:t>Tier S</a:t>
            </a:r>
          </a:p>
          <a:p>
            <a:pPr algn="ctr">
              <a:spcBef>
                <a:spcPts val="800"/>
              </a:spcBef>
              <a:defRPr sz="3600" b="1">
                <a:solidFill>
                  <a:srgbClr val="1F2D4E"/>
                </a:solidFill>
              </a:defRPr>
            </a:pPr>
            <a:r>
              <a:t>50명</a:t>
            </a:r>
          </a:p>
          <a:p>
            <a:pPr algn="ctr">
              <a:spcBef>
                <a:spcPts val="2000"/>
              </a:spcBef>
              <a:defRPr sz="1500">
                <a:solidFill>
                  <a:srgbClr val="374151"/>
                </a:solidFill>
              </a:defRPr>
            </a:pPr>
            <a:r>
              <a:t>Haiku 4.5</a:t>
            </a:r>
            <a:br/>
            <a:r>
              <a:t>+ ephemeral cache</a:t>
            </a:r>
          </a:p>
          <a:p>
            <a:pPr algn="ctr">
              <a:spcBef>
                <a:spcPts val="800"/>
              </a:spcBef>
              <a:defRPr sz="1300" i="1">
                <a:solidFill>
                  <a:srgbClr val="6B7280"/>
                </a:solidFill>
              </a:defRPr>
            </a:pPr>
            <a:r>
              <a:t>풀 LLM + 서사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828800"/>
            <a:ext cx="3383280" cy="3840480"/>
          </a:xfrm>
          <a:prstGeom prst="roundRect">
            <a:avLst/>
          </a:prstGeom>
          <a:solidFill>
            <a:srgbClr val="F3F4F6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Tier A</a:t>
            </a:r>
          </a:p>
          <a:p>
            <a:pPr algn="ctr">
              <a:spcBef>
                <a:spcPts val="800"/>
              </a:spcBef>
              <a:defRPr sz="3600" b="1">
                <a:solidFill>
                  <a:srgbClr val="1F2D4E"/>
                </a:solidFill>
              </a:defRPr>
            </a:pPr>
            <a:r>
              <a:t>200명</a:t>
            </a:r>
          </a:p>
          <a:p>
            <a:pPr algn="ctr">
              <a:spcBef>
                <a:spcPts val="2000"/>
              </a:spcBef>
              <a:defRPr sz="1500">
                <a:solidFill>
                  <a:srgbClr val="374151"/>
                </a:solidFill>
              </a:defRPr>
            </a:pPr>
            <a:r>
              <a:t>Gemini 2.5</a:t>
            </a:r>
            <a:br/>
            <a:r>
              <a:t>Flash-Lite</a:t>
            </a:r>
          </a:p>
          <a:p>
            <a:pPr algn="ctr">
              <a:spcBef>
                <a:spcPts val="800"/>
              </a:spcBef>
              <a:defRPr sz="1300" i="1">
                <a:solidFill>
                  <a:srgbClr val="6B7280"/>
                </a:solidFill>
              </a:defRPr>
            </a:pPr>
            <a:r>
              <a:t>경량 LLM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383280" cy="3840480"/>
          </a:xfrm>
          <a:prstGeom prst="roundRect">
            <a:avLst/>
          </a:prstGeom>
          <a:solidFill>
            <a:srgbClr val="F3F4F6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/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Tier B</a:t>
            </a:r>
          </a:p>
          <a:p>
            <a:pPr algn="ctr">
              <a:spcBef>
                <a:spcPts val="800"/>
              </a:spcBef>
              <a:defRPr sz="3600" b="1">
                <a:solidFill>
                  <a:srgbClr val="1F2D4E"/>
                </a:solidFill>
              </a:defRPr>
            </a:pPr>
            <a:r>
              <a:t>750명</a:t>
            </a:r>
          </a:p>
          <a:p>
            <a:pPr algn="ctr">
              <a:spcBef>
                <a:spcPts val="2000"/>
              </a:spcBef>
              <a:defRPr sz="1500">
                <a:solidFill>
                  <a:srgbClr val="374151"/>
                </a:solidFill>
              </a:defRPr>
            </a:pPr>
            <a:r>
              <a:t>policy_executor</a:t>
            </a:r>
            <a:br/>
            <a:r>
              <a:t>순수 Python</a:t>
            </a:r>
          </a:p>
          <a:p>
            <a:pPr algn="ctr">
              <a:spcBef>
                <a:spcPts val="800"/>
              </a:spcBef>
              <a:defRPr sz="1300" i="1">
                <a:solidFill>
                  <a:srgbClr val="6B7280"/>
                </a:solidFill>
              </a:defRPr>
            </a:pPr>
            <a:r>
              <a:t>결정적 함수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i="1">
                <a:solidFill>
                  <a:srgbClr val="6B7280"/>
                </a:solidFill>
              </a:defRPr>
            </a:pPr>
            <a:r>
              <a:t>Auto-downgrade: anthropic → openai → ollama → mock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기억 · 상태 · 소셜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383280" cy="3200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Layer 2</a:t>
            </a:r>
          </a:p>
          <a:p>
            <a:pPr>
              <a:spcAft>
                <a:spcPts val="1500"/>
              </a:spcAft>
              <a:defRPr sz="2600" b="1">
                <a:solidFill>
                  <a:srgbClr val="1F2D4E"/>
                </a:solidFill>
              </a:defRPr>
            </a:pPr>
            <a:r>
              <a:t>기억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visit_history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learned_prefs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blacklist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habit_store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828800"/>
            <a:ext cx="3383280" cy="3200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Layer 3</a:t>
            </a:r>
          </a:p>
          <a:p>
            <a:pPr>
              <a:spcAft>
                <a:spcPts val="1500"/>
              </a:spcAft>
              <a:defRPr sz="2600" b="1">
                <a:solidFill>
                  <a:srgbClr val="1F2D4E"/>
                </a:solidFill>
              </a:defRPr>
            </a:pPr>
            <a:r>
              <a:t>상태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hunger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fatigue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mood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tick decay/recover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383280" cy="32004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Layer 5</a:t>
            </a:r>
          </a:p>
          <a:p>
            <a:pPr>
              <a:spcAft>
                <a:spcPts val="1500"/>
              </a:spcAft>
              <a:defRPr sz="2600" b="1">
                <a:solidFill>
                  <a:srgbClr val="1F2D4E"/>
                </a:solidFill>
              </a:defRPr>
            </a:pPr>
            <a:r>
              <a:t>소셜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만족도 &gt; 0.7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친구 2명 전파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다음 tick visit_p ↑</a:t>
            </a:r>
          </a:p>
          <a:p>
            <a:pPr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· 매장 평판 확산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303520"/>
            <a:ext cx="1033272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500" b="1">
                <a:solidFill>
                  <a:srgbClr val="8B5CF6"/>
                </a:solidFill>
              </a:defRPr>
            </a:pPr>
            <a:r>
              <a:t>Memory Seeder</a:t>
            </a:r>
          </a:p>
          <a:p>
            <a:pPr>
              <a:defRPr sz="1800">
                <a:solidFill>
                  <a:srgbClr val="374151"/>
                </a:solidFill>
              </a:defRPr>
            </a:pPr>
            <a:r>
              <a:t>14일 가상 visit 주입 → cold start 완화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마포 16동 상권 DNA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011680" cy="6400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nightlife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874519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서교 · 합정 · 신수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874519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</a:defRPr>
            </a:pPr>
            <a:r>
              <a:t>주점 1.5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651760"/>
            <a:ext cx="2011680" cy="64008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trendy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697479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연남 · 망원1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2697479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</a:defRPr>
            </a:pPr>
            <a:r>
              <a:t>카페 1.5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474720"/>
            <a:ext cx="2011680" cy="6400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office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520439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상암 · 공덕 · 도화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520439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음식점 1.3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297680"/>
            <a:ext cx="2011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34340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용강 · 아현 · 염리 · 대흥 · 서강 · 성산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434340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편의점 1.2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120640"/>
            <a:ext cx="2011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traditional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166359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망원2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5166359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혼합 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i="1">
                <a:solidFill>
                  <a:srgbClr val="6B7280"/>
                </a:solidFill>
              </a:defRPr>
            </a:pPr>
            <a:r>
              <a:t>DONG_CHARACTER → 매장 score에 cat_boost 직접 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10058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2D4E"/>
                </a:solidFill>
              </a:defRPr>
            </a:pPr>
            <a:r>
              <a:t>결과 — 학술 최첨단 수준 + 비용 $0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371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10B981"/>
                </a:solidFill>
              </a:defRPr>
            </a:pPr>
            <a:r>
              <a:t>4.6%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RMSE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73736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3B82F6"/>
                </a:solidFill>
              </a:defRPr>
            </a:pPr>
            <a:r>
              <a:t>0.69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Pearson 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00400" cy="1828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/>
          <a:lstStyle/>
          <a:p>
            <a:pPr algn="ctr">
              <a:defRPr sz="4400" b="1">
                <a:solidFill>
                  <a:srgbClr val="8B5CF6"/>
                </a:solidFill>
              </a:defRPr>
            </a:pPr>
            <a:r>
              <a:t>92%</a:t>
            </a:r>
          </a:p>
          <a:p>
            <a:pPr algn="ctr">
              <a:defRPr sz="1400">
                <a:solidFill>
                  <a:srgbClr val="374151"/>
                </a:solidFill>
              </a:defRPr>
            </a:pPr>
            <a:r>
              <a:t>External 귀환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749039"/>
          <a:ext cx="10332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2286000"/>
                <a:gridCol w="30175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연구 / 모델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RMSE / MAPE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단위</a:t>
                      </a:r>
                    </a:p>
                  </a:txBody>
                  <a:tcPr>
                    <a:solidFill>
                      <a:srgbClr val="1F2D4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374151"/>
                          </a:solidFill>
                        </a:rPr>
                        <a:t>우리 ABM (v12)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374151"/>
                          </a:solidFill>
                        </a:rPr>
                        <a:t>0.688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374151"/>
                          </a:solidFill>
                        </a:rPr>
                        <a:t>4.6%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374151"/>
                          </a:solidFill>
                        </a:rPr>
                        <a:t>visit ↔ presence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Crols &amp; Malleson 2019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0.7~0.9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MAPE 10~25%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pedestrian count (최첨단)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Sommet &amp; Lipps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0.5~0.85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panel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Brussels 2024 (천장)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0.96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374151"/>
                          </a:solidFill>
                        </a:rPr>
                        <a:t>trip ↔ trip (같은 단위)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6080760"/>
            <a:ext cx="10332720" cy="502920"/>
          </a:xfrm>
          <a:prstGeom prst="roundRect">
            <a:avLst/>
          </a:prstGeom>
          <a:solidFill>
            <a:srgbClr val="F3F4F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73152"/>
          <a:lstStyle/>
          <a:p>
            <a:pPr algn="ctr">
              <a:defRPr sz="1400" i="1">
                <a:solidFill>
                  <a:srgbClr val="374151"/>
                </a:solidFill>
              </a:defRPr>
            </a:pPr>
            <a:r>
              <a:t>v12 = Crols 2019 최첨단(Pearson 0.7~0.9) 하단 + RMSE는 그보다 낮음 — 비용 $0로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