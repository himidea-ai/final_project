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5600" b="1">
                <a:solidFill>
                  <a:srgbClr val="4FC3F7"/>
                </a:solidFill>
                <a:latin typeface="Pretendard"/>
              </a:rPr>
              <a:t>SPOTTER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3200" b="1">
                <a:solidFill>
                  <a:srgbClr val="E3E9F4"/>
                </a:solidFill>
                <a:latin typeface="Pretendard"/>
              </a:rPr>
              <a:t>ABM × DB 인프라 브리핑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0">
                <a:solidFill>
                  <a:srgbClr val="9CA9BE"/>
                </a:solidFill>
                <a:latin typeface="Pretendard"/>
              </a:rPr>
              <a:t>기준 시점: 2026-05-06 · origin/dev · alembic a8f3d2e7c1b9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114800"/>
            <a:ext cx="11247120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6052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4FC3F7"/>
                </a:solidFill>
                <a:latin typeface="Pretendard"/>
              </a:rPr>
              <a:t>구성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26280"/>
            <a:ext cx="10972800" cy="2286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400">
                <a:solidFill>
                  <a:srgbClr val="E3E9F4"/>
                </a:solidFill>
                <a:latin typeface="Pretendard"/>
              </a:rPr>
              <a:t>·  Slide 2 — ABM 시스템 개요 (5,000 에이전트 × 3-Tier × 4 mode)</a:t>
            </a:r>
          </a:p>
          <a:p>
            <a:r>
              <a:rPr sz="1400">
                <a:solidFill>
                  <a:srgbClr val="E3E9F4"/>
                </a:solidFill>
                <a:latin typeface="Pretendard"/>
              </a:rPr>
              <a:t>·  Slide 3 — ABM 의사결정 흐름 + 메모리 시스템 (활성 / 비활성)</a:t>
            </a:r>
          </a:p>
          <a:p>
            <a:r>
              <a:rPr sz="1400">
                <a:solidFill>
                  <a:srgbClr val="E3E9F4"/>
                </a:solidFill>
                <a:latin typeface="Pretendard"/>
              </a:rPr>
              <a:t>·  Slide 4 — DB 인프라 (87 테이블 / 5.3 GB / 213 인덱스)</a:t>
            </a:r>
          </a:p>
          <a:p>
            <a:r>
              <a:rPr sz="1400">
                <a:solidFill>
                  <a:srgbClr val="E3E9F4"/>
                </a:solidFill>
                <a:latin typeface="Pretendard"/>
              </a:rPr>
              <a:t>·  Slide 5 — 데이터 자산 (마포 1,070만 / FTC 35K brand / RAG 10K 임베딩)</a:t>
            </a:r>
          </a:p>
          <a:p>
            <a:r>
              <a:rPr sz="1400">
                <a:solidFill>
                  <a:srgbClr val="E3E9F4"/>
                </a:solidFill>
                <a:latin typeface="Pretendard"/>
              </a:rPr>
              <a:t>·  Slide 6 — 통합 흐름 + 정량 요약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>
                <a:solidFill>
                  <a:srgbClr val="4FC3F7"/>
                </a:solidFill>
                <a:latin typeface="Pretendard"/>
              </a:rPr>
              <a:t>ABM 시스템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9CA9BE"/>
                </a:solidFill>
                <a:latin typeface="Pretendard"/>
              </a:rPr>
              <a:t>마포구 5,000 가상 에이전트가 매 시간 행동 결정 → 매장별 매출 추정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743200" cy="1097280"/>
          </a:xfrm>
          <a:prstGeom prst="roundRect">
            <a:avLst/>
          </a:prstGeom>
          <a:solidFill>
            <a:srgbClr val="1A2236"/>
          </a:solidFill>
          <a:ln>
            <a:solidFill>
              <a:srgbClr val="1A2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44752"/>
            <a:ext cx="24688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9CA9BE"/>
                </a:solidFill>
                <a:latin typeface="Pretendard"/>
              </a:rPr>
              <a:t>에이전트 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55648"/>
            <a:ext cx="24688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200" b="1">
                <a:solidFill>
                  <a:srgbClr val="4FC3F7"/>
                </a:solidFill>
                <a:latin typeface="Pretendard"/>
              </a:rPr>
              <a:t>5,000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743200" cy="1097280"/>
          </a:xfrm>
          <a:prstGeom prst="roundRect">
            <a:avLst/>
          </a:prstGeom>
          <a:solidFill>
            <a:srgbClr val="1A2236"/>
          </a:solidFill>
          <a:ln>
            <a:solidFill>
              <a:srgbClr val="1A2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444752"/>
            <a:ext cx="24688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9CA9BE"/>
                </a:solidFill>
                <a:latin typeface="Pretendard"/>
              </a:rPr>
              <a:t>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755648"/>
            <a:ext cx="24688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200" b="1">
                <a:solidFill>
                  <a:srgbClr val="4FC3F7"/>
                </a:solidFill>
                <a:latin typeface="Pretendard"/>
              </a:rPr>
              <a:t>S 50 / A 200 / B 4,750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71600"/>
            <a:ext cx="2743200" cy="1097280"/>
          </a:xfrm>
          <a:prstGeom prst="roundRect">
            <a:avLst/>
          </a:prstGeom>
          <a:solidFill>
            <a:srgbClr val="1A2236"/>
          </a:solidFill>
          <a:ln>
            <a:solidFill>
              <a:srgbClr val="1A2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444752"/>
            <a:ext cx="24688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9CA9BE"/>
                </a:solidFill>
                <a:latin typeface="Pretendard"/>
              </a:rPr>
              <a:t>기본 LLM 호출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55648"/>
            <a:ext cx="24688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200" b="1">
                <a:solidFill>
                  <a:srgbClr val="6EE7B7"/>
                </a:solidFill>
                <a:latin typeface="Pretendard"/>
              </a:rPr>
              <a:t>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371600"/>
            <a:ext cx="2468880" cy="1097280"/>
          </a:xfrm>
          <a:prstGeom prst="roundRect">
            <a:avLst/>
          </a:prstGeom>
          <a:solidFill>
            <a:srgbClr val="1A2236"/>
          </a:solidFill>
          <a:ln>
            <a:solidFill>
              <a:srgbClr val="1A2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1444752"/>
            <a:ext cx="21945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9CA9BE"/>
                </a:solidFill>
                <a:latin typeface="Pretendard"/>
              </a:rPr>
              <a:t>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1755648"/>
            <a:ext cx="219456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200" b="1">
                <a:solidFill>
                  <a:srgbClr val="4FC3F7"/>
                </a:solidFill>
                <a:latin typeface="Pretendard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743200"/>
            <a:ext cx="11247120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78892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4FC3F7"/>
                </a:solidFill>
                <a:latin typeface="Pretendard"/>
              </a:rPr>
              <a:t>Population Mix (마포 실측 비례, n_personas 비례 scale)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3154680"/>
          <a:ext cx="1124712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6053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FC3F7"/>
                          </a:solidFill>
                          <a:latin typeface="Pretendard"/>
                        </a:rPr>
                        <a:t>역할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FC3F7"/>
                          </a:solidFill>
                          <a:latin typeface="Pretendard"/>
                        </a:rPr>
                        <a:t>비율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FC3F7"/>
                          </a:solidFill>
                          <a:latin typeface="Pretendard"/>
                        </a:rPr>
                        <a:t>근거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FC3F7"/>
                          </a:solidFill>
                          <a:latin typeface="Pretendard"/>
                        </a:rPr>
                        <a:t>행동 패턴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residents (거주민)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60%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SGIS 361,380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일상 생활 — 식사·카페·소비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ext_commuters (외부 통근)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20%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마포 사업체 종사 281,385 일부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출근 시간 진입 / 퇴근 이탈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commuters (마포 내 통근)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10%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거주+근무 일치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거주 동 ↔ 근무 동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ext_visitors (외부 방문)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5%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홍대·연남 야간 방문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저녁 시간 진입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visitors (단기 방문)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4%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마포 내 단기 이동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비정기 방문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605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owners (점주)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1%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운영 매장 보유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9~22시 매장 상주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457200" y="5852160"/>
            <a:ext cx="11247120" cy="36576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8978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FFB74D"/>
                </a:solidFill>
                <a:latin typeface="Pretendard"/>
              </a:rPr>
              <a:t>핵심 한 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>
                <a:solidFill>
                  <a:srgbClr val="6EE7B7"/>
                </a:solidFill>
                <a:latin typeface="Pretendard"/>
              </a:rPr>
              <a:t>에이전트 = 통계 분포 + 정책 기반 행동 + (옵션) Tier S 50명 LLM 추론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>
                <a:solidFill>
                  <a:srgbClr val="4FC3F7"/>
                </a:solidFill>
                <a:latin typeface="Pretendard"/>
              </a:rPr>
              <a:t>ABM 의사결정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9CA9BE"/>
                </a:solidFill>
                <a:latin typeface="Pretendard"/>
              </a:rPr>
              <a:t>agents.py:decide() 라우터 — 4 mode 분기. /simulate-abm 기본 = use_policy=True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4FC3F7"/>
                </a:solidFill>
                <a:latin typeface="Pretendard"/>
              </a:rPr>
              <a:t>4가지 Mode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91640"/>
          <a:ext cx="11247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FC3F7"/>
                          </a:solidFill>
                          <a:latin typeface="Pretendard"/>
                        </a:rPr>
                        <a:t>Mode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FC3F7"/>
                          </a:solidFill>
                          <a:latin typeface="Pretendard"/>
                        </a:rPr>
                        <a:t>Tier S (50)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FC3F7"/>
                          </a:solidFill>
                          <a:latin typeface="Pretendard"/>
                        </a:rPr>
                        <a:t>Tier A (200)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FC3F7"/>
                          </a:solidFill>
                          <a:latin typeface="Pretendard"/>
                        </a:rPr>
                        <a:t>Tier B (≈4,750)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FC3F7"/>
                          </a:solidFill>
                          <a:latin typeface="Pretendard"/>
                        </a:rPr>
                        <a:t>LLM 호출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6EE7B7"/>
                          </a:solidFill>
                          <a:latin typeface="Pretendard"/>
                        </a:rPr>
                        <a:t>default (use_policy=True)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policy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policy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policy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6EE7B7"/>
                          </a:solidFill>
                          <a:latin typeface="Pretendard"/>
                        </a:rPr>
                        <a:t>0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enable_llm_decisions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B74D"/>
                          </a:solidFill>
                          <a:latin typeface="Pretendard"/>
                        </a:rPr>
                        <a:t>smart_decide (LLM)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policy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policy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Tier S 만 (≈1,200/sim)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풀 JSON 모드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smart_decide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B74D"/>
                          </a:solidFill>
                          <a:latin typeface="Pretendard"/>
                        </a:rPr>
                        <a:t>fast_decide (LLM)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rule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S+A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DSL 모드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dsl_decide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dsl_decide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dsl_decide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9A9A"/>
                          </a:solidFill>
                          <a:latin typeface="Pretendard"/>
                        </a:rPr>
                        <a:t>전 Tier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3657600"/>
            <a:ext cx="11247120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70332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4FC3F7"/>
                </a:solidFill>
                <a:latin typeface="Pretendard"/>
              </a:rPr>
              <a:t>비용 최소화 트릭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69080"/>
            <a:ext cx="5852160" cy="2286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200">
                <a:solidFill>
                  <a:srgbClr val="E3E9F4"/>
                </a:solidFill>
                <a:latin typeface="Pretendard"/>
              </a:rPr>
              <a:t>·  policy_generator — Ollama Qwen2.5:3b 로컬</a:t>
            </a:r>
          </a:p>
          <a:p>
            <a:r>
              <a:rPr sz="1200">
                <a:solidFill>
                  <a:srgbClr val="9CA9BE"/>
                </a:solidFill>
                <a:latin typeface="Pretendard"/>
              </a:rPr>
              <a:t>·    → role × 날씨 × 시간대 = 11개 정책 cold gen</a:t>
            </a:r>
          </a:p>
          <a:p>
            <a:r>
              <a:rPr sz="1200">
                <a:solidFill>
                  <a:srgbClr val="6EE7B7"/>
                </a:solidFill>
                <a:latin typeface="Pretendard"/>
              </a:rPr>
              <a:t>·    → policy_cache.json 저장 → 매 시뮬 LLM 0회</a:t>
            </a:r>
          </a:p>
          <a:p>
            <a:r>
              <a:rPr sz="1200">
                <a:solidFill>
                  <a:srgbClr val="E3E9F4"/>
                </a:solidFill>
                <a:latin typeface="Pretendard"/>
              </a:rPr>
              <a:t>·  Archetype 30+ multiplier</a:t>
            </a:r>
          </a:p>
          <a:p>
            <a:r>
              <a:rPr sz="1200">
                <a:solidFill>
                  <a:srgbClr val="9CA9BE"/>
                </a:solidFill>
                <a:latin typeface="Pretendard"/>
              </a:rPr>
              <a:t>·    → resident 7 / commuter 5 / visitor 4 ...</a:t>
            </a:r>
          </a:p>
          <a:p>
            <a:r>
              <a:rPr sz="1200">
                <a:solidFill>
                  <a:srgbClr val="9CA9BE"/>
                </a:solidFill>
                <a:latin typeface="Pretendard"/>
              </a:rPr>
              <a:t>·    → 같은 role 안 행동 다양성 확보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1">
                <a:solidFill>
                  <a:srgbClr val="FFB74D"/>
                </a:solidFill>
                <a:latin typeface="Pretendard"/>
              </a:rPr>
              <a:t>메모리 / 보조 시스템 (현재 활성)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4434840"/>
          <a:ext cx="5486400" cy="2066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444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FC3F7"/>
                          </a:solidFill>
                          <a:latin typeface="Pretendard"/>
                        </a:rPr>
                        <a:t>시스템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FC3F7"/>
                          </a:solidFill>
                          <a:latin typeface="Pretendard"/>
                        </a:rPr>
                        <a:t>활성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</a:tr>
              <a:tr h="3444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MemoryStore (raw + 일일 요약)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EE7B7"/>
                          </a:solidFill>
                          <a:latin typeface="Pretendard"/>
                        </a:rPr>
                        <a:t>✅ 사용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444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policy_cache.json (LLM 0회 정책)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EE7B7"/>
                          </a:solidFill>
                          <a:latin typeface="Pretendard"/>
                        </a:rPr>
                        <a:t>✅ 사용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444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Archetype 30+ multiplier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EE7B7"/>
                          </a:solidFill>
                          <a:latin typeface="Pretendard"/>
                        </a:rPr>
                        <a:t>✅ 사용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444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Memory Seeder (14일 prefill)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9A9A"/>
                          </a:solidFill>
                          <a:latin typeface="Pretendard"/>
                        </a:rPr>
                        <a:t>❌ off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444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PgVectorMemory (semantic search)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9A9A"/>
                          </a:solidFill>
                          <a:latin typeface="Pretendard"/>
                        </a:rPr>
                        <a:t>❌ off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>
                <a:solidFill>
                  <a:srgbClr val="4FC3F7"/>
                </a:solidFill>
                <a:latin typeface="Pretendard"/>
              </a:rPr>
              <a:t>DB 인프라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9CA9BE"/>
                </a:solidFill>
                <a:latin typeface="Pretendard"/>
              </a:rPr>
              <a:t>PostgreSQL (RDS) · SQLAlchemy ORM · Alembic 마이그레이션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194560" cy="1097280"/>
          </a:xfrm>
          <a:prstGeom prst="roundRect">
            <a:avLst/>
          </a:prstGeom>
          <a:solidFill>
            <a:srgbClr val="1A2236"/>
          </a:solidFill>
          <a:ln>
            <a:solidFill>
              <a:srgbClr val="1A2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44752"/>
            <a:ext cx="1920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9CA9BE"/>
                </a:solidFill>
                <a:latin typeface="Pretendard"/>
              </a:rPr>
              <a:t>DB 총 크기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55648"/>
            <a:ext cx="192024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200" b="1">
                <a:solidFill>
                  <a:srgbClr val="4FC3F7"/>
                </a:solidFill>
                <a:latin typeface="Pretendard"/>
              </a:rPr>
              <a:t>5.3 GB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371600"/>
            <a:ext cx="2194560" cy="1097280"/>
          </a:xfrm>
          <a:prstGeom prst="roundRect">
            <a:avLst/>
          </a:prstGeom>
          <a:solidFill>
            <a:srgbClr val="1A2236"/>
          </a:solidFill>
          <a:ln>
            <a:solidFill>
              <a:srgbClr val="1A2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444752"/>
            <a:ext cx="1920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9CA9BE"/>
                </a:solidFill>
                <a:latin typeface="Pretendard"/>
              </a:rPr>
              <a:t>Public 테이블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755648"/>
            <a:ext cx="192024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200" b="1">
                <a:solidFill>
                  <a:srgbClr val="4FC3F7"/>
                </a:solidFill>
                <a:latin typeface="Pretendard"/>
              </a:rPr>
              <a:t>87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371600"/>
            <a:ext cx="2194560" cy="1097280"/>
          </a:xfrm>
          <a:prstGeom prst="roundRect">
            <a:avLst/>
          </a:prstGeom>
          <a:solidFill>
            <a:srgbClr val="1A2236"/>
          </a:solidFill>
          <a:ln>
            <a:solidFill>
              <a:srgbClr val="1A2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1444752"/>
            <a:ext cx="1920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9CA9BE"/>
                </a:solidFill>
                <a:latin typeface="Pretendard"/>
              </a:rPr>
              <a:t>ORM 클래스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755648"/>
            <a:ext cx="192024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200" b="1">
                <a:solidFill>
                  <a:srgbClr val="4FC3F7"/>
                </a:solidFill>
                <a:latin typeface="Pretendard"/>
              </a:rPr>
              <a:t>77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371600"/>
            <a:ext cx="2194560" cy="1097280"/>
          </a:xfrm>
          <a:prstGeom prst="roundRect">
            <a:avLst/>
          </a:prstGeom>
          <a:solidFill>
            <a:srgbClr val="1A2236"/>
          </a:solidFill>
          <a:ln>
            <a:solidFill>
              <a:srgbClr val="1A2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1444752"/>
            <a:ext cx="1920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9CA9BE"/>
                </a:solidFill>
                <a:latin typeface="Pretendard"/>
              </a:rPr>
              <a:t>Alembic 마이그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1755648"/>
            <a:ext cx="192024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200" b="1">
                <a:solidFill>
                  <a:srgbClr val="4FC3F7"/>
                </a:solidFill>
                <a:latin typeface="Pretendard"/>
              </a:rPr>
              <a:t>37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1371600"/>
            <a:ext cx="2103120" cy="1097280"/>
          </a:xfrm>
          <a:prstGeom prst="roundRect">
            <a:avLst/>
          </a:prstGeom>
          <a:solidFill>
            <a:srgbClr val="1A2236"/>
          </a:solidFill>
          <a:ln>
            <a:solidFill>
              <a:srgbClr val="1A2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444752"/>
            <a:ext cx="182879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9CA9BE"/>
                </a:solidFill>
                <a:latin typeface="Pretendard"/>
              </a:rPr>
              <a:t>FK / 인덱스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1755648"/>
            <a:ext cx="1828799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200" b="1">
                <a:solidFill>
                  <a:srgbClr val="4FC3F7"/>
                </a:solidFill>
                <a:latin typeface="Pretendard"/>
              </a:rPr>
              <a:t>43 / 213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743200"/>
            <a:ext cx="11247120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78892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4FC3F7"/>
                </a:solidFill>
                <a:latin typeface="Pretendard"/>
              </a:rPr>
              <a:t>TOP 10 테이블 (디스크 사용량)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457200" y="3154680"/>
          <a:ext cx="5852160" cy="331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</a:tblGrid>
              <a:tr h="300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FC3F7"/>
                          </a:solidFill>
                          <a:latin typeface="Pretendard"/>
                        </a:rPr>
                        <a:t>테이블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FC3F7"/>
                          </a:solidFill>
                          <a:latin typeface="Pretendard"/>
                        </a:rPr>
                        <a:t>크기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</a:tr>
              <a:tr h="300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living_population_grid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2.96 GB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00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bus_boarding_daily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640 MB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00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living_population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623 MB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00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langchain_pg_embedding (RAG)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276 MB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00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seoul_adstrd_stor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170 MB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00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golmok_commercial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128 MB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00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seoul_ttareungi_usage_daily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89 MB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00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jeonse_monthly_rent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76 MB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00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district_sales_seoul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71 MB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009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seoul_district_sales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48 MB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583680" y="278892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1">
                <a:solidFill>
                  <a:srgbClr val="FFB74D"/>
                </a:solidFill>
                <a:latin typeface="Pretendard"/>
              </a:rPr>
              <a:t>운영 안정성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200400"/>
            <a:ext cx="5486400" cy="3200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100">
                <a:solidFill>
                  <a:srgbClr val="6EE7B7"/>
                </a:solidFill>
                <a:latin typeface="Pretendard"/>
              </a:rPr>
              <a:t>·  alembic head 정합 (phantom revision 복구 후)</a:t>
            </a:r>
          </a:p>
          <a:p>
            <a:r>
              <a:rPr sz="1100">
                <a:solidFill>
                  <a:srgbClr val="6EE7B7"/>
                </a:solidFill>
                <a:latin typeface="Pretendard"/>
              </a:rPr>
              <a:t>·  SQLAlchemy Engine 싱글톤화 → RDS 포화 해소</a:t>
            </a:r>
          </a:p>
          <a:p>
            <a:r>
              <a:rPr sz="1100">
                <a:solidFill>
                  <a:srgbClr val="6EE7B7"/>
                </a:solidFill>
                <a:latin typeface="Pretendard"/>
              </a:rPr>
              <a:t>·  vector_db pool_recycle=1800 (idle 회수)</a:t>
            </a:r>
          </a:p>
          <a:p>
            <a:r>
              <a:rPr sz="1100">
                <a:solidFill>
                  <a:srgbClr val="6EE7B7"/>
                </a:solidFill>
                <a:latin typeface="Pretendard"/>
              </a:rPr>
              <a:t>·  dong_code FK 4 그룹 통합 (425 + 399 master)</a:t>
            </a:r>
          </a:p>
          <a:p>
            <a:r>
              <a:rPr sz="1100">
                <a:solidFill>
                  <a:srgbClr val="6EE7B7"/>
                </a:solidFill>
                <a:latin typeface="Pretendard"/>
              </a:rPr>
              <a:t>·  87 테이블 ORM ↔ DB drift 정합 (zombie 정리)</a:t>
            </a:r>
          </a:p>
          <a:p>
            <a:r>
              <a:rPr sz="1100">
                <a:solidFill>
                  <a:srgbClr val="6EE7B7"/>
                </a:solidFill>
                <a:latin typeface="Pretendard"/>
              </a:rPr>
              <a:t>·  외부 API NULL fill (subway / ttareungi / hotspots)</a:t>
            </a:r>
          </a:p>
          <a:p>
            <a:r>
              <a:rPr sz="1100">
                <a:solidFill>
                  <a:srgbClr val="6EE7B7"/>
                </a:solidFill>
                <a:latin typeface="Pretendard"/>
              </a:rPr>
              <a:t>·  ETL 재적재: ttareungi.dong_code 마포 100%</a:t>
            </a:r>
          </a:p>
          <a:p>
            <a:r>
              <a:rPr sz="1100">
                <a:solidFill>
                  <a:srgbClr val="6EE7B7"/>
                </a:solidFill>
                <a:latin typeface="Pretendard"/>
              </a:rPr>
              <a:t>·  권한: users.is_superadmin BOOLEAN 컬럼 신설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>
                <a:solidFill>
                  <a:srgbClr val="4FC3F7"/>
                </a:solidFill>
                <a:latin typeface="Pretendard"/>
              </a:rPr>
              <a:t>데이터 자산 (현재 적재)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9CA9BE"/>
                </a:solidFill>
                <a:latin typeface="Pretendard"/>
              </a:rPr>
              <a:t>외부 API 8종 적재 + 마포 한정 데이터셋 + 법률 RAG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4FC3F7"/>
                </a:solidFill>
                <a:latin typeface="Pretendard"/>
              </a:rPr>
              <a:t>주요 테이블 row count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91640"/>
          <a:ext cx="5852160" cy="331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</a:tblGrid>
              <a:tr h="300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FC3F7"/>
                          </a:solidFill>
                          <a:latin typeface="Pretendard"/>
                        </a:rPr>
                        <a:t>테이블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FC3F7"/>
                          </a:solidFill>
                          <a:latin typeface="Pretendard"/>
                        </a:rPr>
                        <a:t>row 수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</a:tr>
              <a:tr h="300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living_population_grid (마포)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10,543,528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00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living_population (마포)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968,064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00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seoul_adstrd_stor (마포)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101,871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00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kakao_store_menu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81,037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00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ftc_brand_franchise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34,708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00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seoul_district_sales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87,938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00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langchain_pg_embedding (RAG)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10,255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00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biz_brand_mapping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5,867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00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kakao_store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4,418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009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weather_daily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3E9F4"/>
                          </a:solidFill>
                          <a:latin typeface="Pretendard"/>
                        </a:rPr>
                        <a:t>2,665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1">
                <a:solidFill>
                  <a:srgbClr val="FFB74D"/>
                </a:solidFill>
                <a:latin typeface="Pretendard"/>
              </a:rPr>
              <a:t>외부 API 출처 (8종)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91640"/>
            <a:ext cx="5486400" cy="24688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100">
                <a:solidFill>
                  <a:srgbClr val="E3E9F4"/>
                </a:solidFill>
                <a:latin typeface="Pretendard"/>
              </a:rPr>
              <a:t>·  서울열린데이터광장 (flpop / golmok / 지하철)</a:t>
            </a:r>
          </a:p>
          <a:p>
            <a:r>
              <a:rPr sz="1100">
                <a:solidFill>
                  <a:srgbClr val="E3E9F4"/>
                </a:solidFill>
                <a:latin typeface="Pretendard"/>
              </a:rPr>
              <a:t>·  SGIS — 인구 / 가구 / 사업체 (2026 KOSIS)</a:t>
            </a:r>
          </a:p>
          <a:p>
            <a:r>
              <a:rPr sz="1100">
                <a:solidFill>
                  <a:srgbClr val="E3E9F4"/>
                </a:solidFill>
                <a:latin typeface="Pretendard"/>
              </a:rPr>
              <a:t>·  MOLIT — 부동산 실거래</a:t>
            </a:r>
          </a:p>
          <a:p>
            <a:r>
              <a:rPr sz="1100">
                <a:solidFill>
                  <a:srgbClr val="E3E9F4"/>
                </a:solidFill>
                <a:latin typeface="Pretendard"/>
              </a:rPr>
              <a:t>·  공정거래위원회 (FTC) — 프랜차이즈 정보공개서</a:t>
            </a:r>
          </a:p>
          <a:p>
            <a:r>
              <a:rPr sz="1100">
                <a:solidFill>
                  <a:srgbClr val="E3E9F4"/>
                </a:solidFill>
                <a:latin typeface="Pretendard"/>
              </a:rPr>
              <a:t>·  ECOS — 한국은행 경기 지표 (cycle 100%)</a:t>
            </a:r>
          </a:p>
          <a:p>
            <a:r>
              <a:rPr sz="1100">
                <a:solidFill>
                  <a:srgbClr val="E3E9F4"/>
                </a:solidFill>
                <a:latin typeface="Pretendard"/>
              </a:rPr>
              <a:t>·  기상청 — weather_daily</a:t>
            </a:r>
          </a:p>
          <a:p>
            <a:r>
              <a:rPr sz="1100">
                <a:solidFill>
                  <a:srgbClr val="E3E9F4"/>
                </a:solidFill>
                <a:latin typeface="Pretendard"/>
              </a:rPr>
              <a:t>·  Kakao Local Search — kakao_store / menu</a:t>
            </a:r>
          </a:p>
          <a:p>
            <a:r>
              <a:rPr sz="1100">
                <a:solidFill>
                  <a:srgbClr val="E3E9F4"/>
                </a:solidFill>
                <a:latin typeface="Pretendard"/>
              </a:rPr>
              <a:t>·  공공자전거 — ttareungi 마포 dong_code 100%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297680"/>
            <a:ext cx="11247120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34340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4FC3F7"/>
                </a:solidFill>
                <a:latin typeface="Pretendard"/>
              </a:rPr>
              <a:t>법률 RAG (specialist 4 + 판례 인용)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4709160"/>
          <a:ext cx="112471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FC3F7"/>
                          </a:solidFill>
                          <a:latin typeface="Pretendard"/>
                        </a:rPr>
                        <a:t>항목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FC3F7"/>
                          </a:solidFill>
                          <a:latin typeface="Pretendard"/>
                        </a:rPr>
                        <a:t>값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임베딩 (langchain_pg_embedding)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10,255 vectors (BGE-M3)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법률 조항 (law_legislations)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57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판례 (law_precedents)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222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specialist 4종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가맹사업법 · 공정거래법 · 식품위생법 · 건축법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>
                <a:solidFill>
                  <a:srgbClr val="4FC3F7"/>
                </a:solidFill>
                <a:latin typeface="Pretendard"/>
              </a:rPr>
              <a:t>ABM ↔ DB 통합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9CA9BE"/>
                </a:solidFill>
                <a:latin typeface="Pretendard"/>
              </a:rPr>
              <a:t>DB → world_loader → 5,000 agents → 매장 선택 → 매출 집계 → 응답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103120" cy="1188720"/>
          </a:xfrm>
          <a:prstGeom prst="roundRect">
            <a:avLst/>
          </a:prstGeom>
          <a:solidFill>
            <a:srgbClr val="1A2236"/>
          </a:solidFill>
          <a:ln w="25400">
            <a:solidFill>
              <a:srgbClr val="C4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920239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C49BFF"/>
                </a:solidFill>
                <a:latin typeface="Pretendard"/>
              </a:rPr>
              <a:t>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920239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E3E9F4"/>
                </a:solidFill>
                <a:latin typeface="Pretendard"/>
              </a:rPr>
              <a:t>87 테이블
5.3 GB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69463" y="1965960"/>
            <a:ext cx="164592" cy="182880"/>
          </a:xfrm>
          <a:prstGeom prst="rightArrow">
            <a:avLst/>
          </a:prstGeom>
          <a:solidFill>
            <a:srgbClr val="9CA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200" y="1463040"/>
            <a:ext cx="2103120" cy="1188720"/>
          </a:xfrm>
          <a:prstGeom prst="roundRect">
            <a:avLst/>
          </a:prstGeom>
          <a:solidFill>
            <a:srgbClr val="1A2236"/>
          </a:solidFill>
          <a:ln w="254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554480"/>
            <a:ext cx="1920239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4FC3F7"/>
                </a:solidFill>
                <a:latin typeface="Pretendard"/>
              </a:rPr>
              <a:t>world_loader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965960"/>
            <a:ext cx="1920239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E3E9F4"/>
                </a:solidFill>
                <a:latin typeface="Pretendard"/>
              </a:rPr>
              <a:t>stores / dongs
로드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55464" y="1965960"/>
            <a:ext cx="164592" cy="182880"/>
          </a:xfrm>
          <a:prstGeom prst="rightArrow">
            <a:avLst/>
          </a:prstGeom>
          <a:solidFill>
            <a:srgbClr val="9CA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0" y="1463040"/>
            <a:ext cx="2103120" cy="1188720"/>
          </a:xfrm>
          <a:prstGeom prst="roundRect">
            <a:avLst/>
          </a:prstGeom>
          <a:solidFill>
            <a:srgbClr val="1A2236"/>
          </a:solidFill>
          <a:ln w="254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554480"/>
            <a:ext cx="1920239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4FC3F7"/>
                </a:solidFill>
                <a:latin typeface="Pretendard"/>
              </a:rPr>
              <a:t>agents 5,000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965960"/>
            <a:ext cx="1920239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E3E9F4"/>
                </a:solidFill>
                <a:latin typeface="Pretendard"/>
              </a:rPr>
              <a:t>Tier S/A/B
분배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41464" y="1965960"/>
            <a:ext cx="164592" cy="182880"/>
          </a:xfrm>
          <a:prstGeom prst="rightArrow">
            <a:avLst/>
          </a:prstGeom>
          <a:solidFill>
            <a:srgbClr val="9CA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0" y="1463040"/>
            <a:ext cx="2103120" cy="1188720"/>
          </a:xfrm>
          <a:prstGeom prst="roundRect">
            <a:avLst/>
          </a:prstGeom>
          <a:solidFill>
            <a:srgbClr val="1A2236"/>
          </a:solidFill>
          <a:ln w="2540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554480"/>
            <a:ext cx="1920239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6EE7B7"/>
                </a:solidFill>
                <a:latin typeface="Pretendard"/>
              </a:rPr>
              <a:t>decide()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1965960"/>
            <a:ext cx="1920239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E3E9F4"/>
                </a:solidFill>
                <a:latin typeface="Pretendard"/>
              </a:rPr>
              <a:t>policy
(LLM 0회)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427464" y="1965960"/>
            <a:ext cx="164592" cy="182880"/>
          </a:xfrm>
          <a:prstGeom prst="rightArrow">
            <a:avLst/>
          </a:prstGeom>
          <a:solidFill>
            <a:srgbClr val="9CA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01200" y="1463040"/>
            <a:ext cx="2103120" cy="1188720"/>
          </a:xfrm>
          <a:prstGeom prst="roundRect">
            <a:avLst/>
          </a:prstGeom>
          <a:solidFill>
            <a:srgbClr val="1A2236"/>
          </a:solidFill>
          <a:ln w="2540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1554480"/>
            <a:ext cx="1920239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FFB74D"/>
                </a:solidFill>
                <a:latin typeface="Pretendard"/>
              </a:rPr>
              <a:t>응답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1965960"/>
            <a:ext cx="1920239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E3E9F4"/>
                </a:solidFill>
                <a:latin typeface="Pretendard"/>
              </a:rPr>
              <a:t>trajectory +
매출 집계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926080"/>
            <a:ext cx="11247120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97180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4FC3F7"/>
                </a:solidFill>
                <a:latin typeface="Pretendard"/>
              </a:rPr>
              <a:t>정량 요약 (production 기준)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3337560"/>
          <a:ext cx="566928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</a:tblGrid>
              <a:tr h="3627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FC3F7"/>
                          </a:solidFill>
                          <a:latin typeface="Pretendard"/>
                        </a:rPr>
                        <a:t>ABM 지표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FC3F7"/>
                          </a:solidFill>
                          <a:latin typeface="Pretendard"/>
                        </a:rPr>
                        <a:t>값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에이전트 수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5,000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LLM 호출 (default mode)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EE7B7"/>
                          </a:solidFill>
                          <a:latin typeface="Pretendard"/>
                        </a:rPr>
                        <a:t>0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LLM 호출 (Tier S 모드, 24h)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≈1,200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Population mix base 합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500 (n_agents 비례 scale)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Tier S 50 + A 200 + B ≈4,750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(고정/고정/잔여)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400800" y="3337560"/>
          <a:ext cx="548640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627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FC3F7"/>
                          </a:solidFill>
                          <a:latin typeface="Pretendard"/>
                        </a:rPr>
                        <a:t>DB 지표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FC3F7"/>
                          </a:solidFill>
                          <a:latin typeface="Pretendard"/>
                        </a:rPr>
                        <a:t>값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DB 총 크기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5.3 GB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테이블 / ORM / 마이그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87 / 77 / 37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FK / 인덱스 / 컬럼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43 / 213 / 1,153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RAG 임베딩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10,255 (BGE-M3)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users / superadmin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23 / 1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</a:tbl>
          </a:graphicData>
        </a:graphic>
      </p:graphicFrame>
      <p:sp>
        <p:nvSpPr>
          <p:cNvPr id="28" name="Rectangle 27"/>
          <p:cNvSpPr/>
          <p:nvPr/>
        </p:nvSpPr>
        <p:spPr>
          <a:xfrm>
            <a:off x="457200" y="5760720"/>
            <a:ext cx="11247120" cy="36576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8064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FFB74D"/>
                </a:solidFill>
                <a:latin typeface="Pretendard"/>
              </a:rPr>
              <a:t>한 줄 결론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172200"/>
            <a:ext cx="11247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6EE7B7"/>
                </a:solidFill>
                <a:latin typeface="Pretendard"/>
              </a:rPr>
              <a:t>ABM 5,000 에이전트 시뮬을 매 호출 LLM 0회로 돌릴 수 있도록 정책 캐시 + 메모리 + DB 인프라가 정합 상태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