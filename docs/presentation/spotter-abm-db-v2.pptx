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4400" b="1">
                <a:solidFill>
                  <a:srgbClr val="E3E9F4"/>
                </a:solidFill>
                <a:latin typeface="Pretendard"/>
              </a:rPr>
              <a:t>SPOTTER — ABM × DB 인프라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000" b="0">
                <a:solidFill>
                  <a:srgbClr val="9CA9BE"/>
                </a:solidFill>
                <a:latin typeface="Pretendard"/>
              </a:rPr>
              <a:t>찬영 (A1) 기여 분석 · 2026-04 ~ 2026-05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0"/>
            <a:ext cx="1124712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7033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4FC3F7"/>
                </a:solidFill>
                <a:latin typeface="Pretendard"/>
              </a:rPr>
              <a:t>발표 범위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109728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>
                <a:solidFill>
                  <a:srgbClr val="E3E9F4"/>
                </a:solidFill>
                <a:latin typeface="Pretendard"/>
              </a:rPr>
              <a:t>·  Slide 2 — ABM: 5,000 에이전트 × 4 mode × Policy-as-code</a:t>
            </a:r>
          </a:p>
          <a:p>
            <a:r>
              <a:rPr sz="1600">
                <a:solidFill>
                  <a:srgbClr val="E3E9F4"/>
                </a:solidFill>
                <a:latin typeface="Pretendard"/>
              </a:rPr>
              <a:t>·  Slide 3 — DB 인프라: 87 public 테이블 / 77 ORM / 37 alembic</a:t>
            </a:r>
          </a:p>
          <a:p>
            <a:r>
              <a:rPr sz="1600">
                <a:solidFill>
                  <a:srgbClr val="E3E9F4"/>
                </a:solidFill>
                <a:latin typeface="Pretendard"/>
              </a:rPr>
              <a:t>·  Slide 4 — 정량 가치 + 산출물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000" b="1">
                <a:solidFill>
                  <a:srgbClr val="4FC3F7"/>
                </a:solidFill>
                <a:latin typeface="Pretendard"/>
              </a:rPr>
              <a:t>ABM — Agent-Based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9CA9BE"/>
                </a:solidFill>
                <a:latin typeface="Pretendard"/>
              </a:rPr>
              <a:t>마포구 5,000 가상 에이전트가 매 시간 "어디 갈지" 결정 → 매장별 매출 추정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4FC3F7"/>
                </a:solidFill>
                <a:latin typeface="Pretendard"/>
              </a:rPr>
              <a:t>4가지 의사결정 Mode (agents.py:decide 라우터)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2880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Mode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Tier S (50)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Tier A (200)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Tier B (≈4,750)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LLM 호출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default (use_policy=True)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policy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policy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policy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0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enable_llm_decisions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smart_decide (LLM)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policy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policy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Tier S 만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풀 JSON 모드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smart_decide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fast_decide (LLM)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rule (0)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S+A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DSL 모드 (use_dsl=True)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dsl_decide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dsl_decide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dsl_decide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전 Tier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3931920"/>
            <a:ext cx="1124712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977639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4FC3F7"/>
                </a:solidFill>
                <a:latin typeface="Pretendard"/>
              </a:rPr>
              <a:t>핵심 설계 (LLM 비용 최소화)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97680"/>
            <a:ext cx="585216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E3E9F4"/>
                </a:solidFill>
                <a:latin typeface="Pretendard"/>
              </a:rPr>
              <a:t>·  policy_generator — Ollama Qwen2.5:3b 로 정책 11회 생성</a:t>
            </a:r>
          </a:p>
          <a:p>
            <a:r>
              <a:rPr sz="1100">
                <a:solidFill>
                  <a:srgbClr val="6EE7B7"/>
                </a:solidFill>
                <a:latin typeface="Pretendard"/>
              </a:rPr>
              <a:t>·    → policy_cache.json 캐시 → 매 시뮬 LLM 0회</a:t>
            </a:r>
          </a:p>
          <a:p>
            <a:r>
              <a:rPr sz="1100">
                <a:solidFill>
                  <a:srgbClr val="E3E9F4"/>
                </a:solidFill>
                <a:latin typeface="Pretendard"/>
              </a:rPr>
              <a:t>·  Archetype 30+ multiplier (resident 7종 등 role × 유형)</a:t>
            </a:r>
          </a:p>
          <a:p>
            <a:r>
              <a:rPr sz="1100">
                <a:solidFill>
                  <a:srgbClr val="9CA9BE"/>
                </a:solidFill>
                <a:latin typeface="Pretendard"/>
              </a:rPr>
              <a:t>·    → 같은 role 이어도 행동 패턴 다양성 확보</a:t>
            </a:r>
          </a:p>
          <a:p>
            <a:r>
              <a:rPr sz="1100">
                <a:solidFill>
                  <a:srgbClr val="E3E9F4"/>
                </a:solidFill>
                <a:latin typeface="Pretendard"/>
              </a:rPr>
              <a:t>·  Memory Seeder — 14일 가상 visit_history prefill</a:t>
            </a:r>
          </a:p>
          <a:p>
            <a:r>
              <a:rPr sz="1100">
                <a:solidFill>
                  <a:srgbClr val="9CA9BE"/>
                </a:solidFill>
                <a:latin typeface="Pretendard"/>
              </a:rPr>
              <a:t>·    → Layer 2 학습 cold start 완화 (LLM 0)</a:t>
            </a:r>
          </a:p>
          <a:p>
            <a:r>
              <a:rPr sz="1100">
                <a:solidFill>
                  <a:srgbClr val="E3E9F4"/>
                </a:solidFill>
                <a:latin typeface="Pretendard"/>
              </a:rPr>
              <a:t>·  Tier S: smart_decide (배치 LLM, Hierarchical UIST'23)</a:t>
            </a:r>
          </a:p>
          <a:p>
            <a:r>
              <a:rPr sz="1100">
                <a:solidFill>
                  <a:srgbClr val="9CA9BE"/>
                </a:solidFill>
                <a:latin typeface="Pretendard"/>
              </a:rPr>
              <a:t>·    → /simulate-abm 전 Tier OpenAI gpt-4.1-mini 통일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29768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FFB74D"/>
                </a:solidFill>
                <a:latin typeface="Pretendard"/>
              </a:rPr>
              <a:t>모델 / 인구 (실측)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466344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81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항목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값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LLM provider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OpenAI gpt-4.1-mini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Population mix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60/20/10/4/5/1 % (resident → owner)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base 합계 (n_personas 비례 scale)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500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Tier S 모드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enable_llm_decisions=True 시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Thought feed (시각화)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enable_llm_thought=True (별도 LLM)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000" b="1">
                <a:solidFill>
                  <a:srgbClr val="4FC3F7"/>
                </a:solidFill>
                <a:latin typeface="Pretendard"/>
              </a:rPr>
              <a:t>DB 인프라 / ORM 정합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9CA9BE"/>
                </a:solidFill>
                <a:latin typeface="Pretendard"/>
              </a:rPr>
              <a:t>PostgreSQL 87 public 테이블 · SQLAlchemy ORM 77 클래스 · Alembic 37 마이그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4FC3F7"/>
                </a:solidFill>
                <a:latin typeface="Pretendard"/>
              </a:rPr>
              <a:t>내가 한 작업 — 6 영역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85216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E3E9F4"/>
                </a:solidFill>
                <a:latin typeface="Pretendard"/>
              </a:rPr>
              <a:t>·  dong_code FK 정합화 — 4 sprint (그룹 A / B-1 / B-2 / B-3)</a:t>
            </a:r>
          </a:p>
          <a:p>
            <a:r>
              <a:rPr sz="1100">
                <a:solidFill>
                  <a:srgbClr val="9CA9BE"/>
                </a:solidFill>
                <a:latin typeface="Pretendard"/>
              </a:rPr>
              <a:t>·    · seoul_dong_master 425동 + jeonse_dong_master 399동</a:t>
            </a:r>
          </a:p>
          <a:p>
            <a:r>
              <a:rPr sz="1100">
                <a:solidFill>
                  <a:srgbClr val="9CA9BE"/>
                </a:solidFill>
                <a:latin typeface="Pretendard"/>
              </a:rPr>
              <a:t>·    · dong_code 8자리 검증 (helper + Pydantic validator)</a:t>
            </a:r>
          </a:p>
          <a:p>
            <a:r>
              <a:rPr sz="1100">
                <a:solidFill>
                  <a:srgbClr val="9CA9BE"/>
                </a:solidFill>
                <a:latin typeface="Pretendard"/>
              </a:rPr>
              <a:t>·    · dong_centroid + master ORM 클래스 3종</a:t>
            </a:r>
          </a:p>
          <a:p>
            <a:r>
              <a:rPr sz="1100">
                <a:solidFill>
                  <a:srgbClr val="E3E9F4"/>
                </a:solidFill>
                <a:latin typeface="Pretendard"/>
              </a:rPr>
              <a:t>·  신규 테이블 / ORM 추가</a:t>
            </a:r>
          </a:p>
          <a:p>
            <a:r>
              <a:rPr sz="1100">
                <a:solidFill>
                  <a:srgbClr val="9CA9BE"/>
                </a:solidFill>
                <a:latin typeface="Pretendard"/>
              </a:rPr>
              <a:t>·    · kakao_store_menu 신설 + panel3 전수 재크롤링</a:t>
            </a:r>
          </a:p>
          <a:p>
            <a:r>
              <a:rPr sz="1100">
                <a:solidFill>
                  <a:srgbClr val="9CA9BE"/>
                </a:solidFill>
                <a:latin typeface="Pretendard"/>
              </a:rPr>
              <a:t>·    · seoul_realtime_hotspots, elderly_ratio_region</a:t>
            </a:r>
          </a:p>
          <a:p>
            <a:r>
              <a:rPr sz="1100">
                <a:solidFill>
                  <a:srgbClr val="9CA9BE"/>
                </a:solidFill>
                <a:latin typeface="Pretendard"/>
              </a:rPr>
              <a:t>·    · emerging-trend B1 — 5 tables (master+operational)</a:t>
            </a:r>
          </a:p>
          <a:p>
            <a:r>
              <a:rPr sz="1100">
                <a:solidFill>
                  <a:srgbClr val="9CA9BE"/>
                </a:solidFill>
                <a:latin typeface="Pretendard"/>
              </a:rPr>
              <a:t>·    · industry_master FK 배선 + InviteCode nullable 명시</a:t>
            </a:r>
          </a:p>
          <a:p>
            <a:r>
              <a:rPr sz="1100">
                <a:solidFill>
                  <a:srgbClr val="E3E9F4"/>
                </a:solidFill>
                <a:latin typeface="Pretendard"/>
              </a:rPr>
              <a:t>·  Alembic 마이그레이션 정합</a:t>
            </a:r>
          </a:p>
          <a:p>
            <a:r>
              <a:rPr sz="1100">
                <a:solidFill>
                  <a:srgbClr val="6EE7B7"/>
                </a:solidFill>
                <a:latin typeface="Pretendard"/>
              </a:rPr>
              <a:t>·    · phantom revision 복구 + simulation_history 생성/cleanup</a:t>
            </a:r>
          </a:p>
          <a:p>
            <a:r>
              <a:rPr sz="1100">
                <a:solidFill>
                  <a:srgbClr val="9CA9BE"/>
                </a:solidFill>
                <a:latin typeface="Pretendard"/>
              </a:rPr>
              <a:t>·    · users / manager_users 라이프사이클 컬럼 catchup</a:t>
            </a:r>
          </a:p>
          <a:p>
            <a:r>
              <a:rPr sz="1100">
                <a:solidFill>
                  <a:srgbClr val="9CA9BE"/>
                </a:solidFill>
                <a:latin typeface="Pretendard"/>
              </a:rPr>
              <a:t>·    · users.is_superadmin 컬럼 추가 (권한 시스템)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48640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E3E9F4"/>
                </a:solidFill>
                <a:latin typeface="Pretendard"/>
              </a:rPr>
              <a:t>·  연결 풀 / 인프라 안정화</a:t>
            </a:r>
          </a:p>
          <a:p>
            <a:r>
              <a:rPr sz="1100">
                <a:solidFill>
                  <a:srgbClr val="9CA9BE"/>
                </a:solidFill>
                <a:latin typeface="Pretendard"/>
              </a:rPr>
              <a:t>·    · vector_db PGVector pool_recycle=1800 (idle 회수)</a:t>
            </a:r>
          </a:p>
          <a:p>
            <a:r>
              <a:rPr sz="1100">
                <a:solidFill>
                  <a:srgbClr val="6EE7B7"/>
                </a:solidFill>
                <a:latin typeface="Pretendard"/>
              </a:rPr>
              <a:t>·    · services 레이어 Engine 싱글톤화</a:t>
            </a:r>
          </a:p>
          <a:p>
            <a:r>
              <a:rPr sz="1100">
                <a:solidFill>
                  <a:srgbClr val="6EE7B7"/>
                </a:solidFill>
                <a:latin typeface="Pretendard"/>
              </a:rPr>
              <a:t>·    → RDS 커넥션 포화 (max 191) 해소</a:t>
            </a:r>
          </a:p>
          <a:p>
            <a:r>
              <a:rPr sz="1100">
                <a:solidFill>
                  <a:srgbClr val="E3E9F4"/>
                </a:solidFill>
                <a:latin typeface="Pretendard"/>
              </a:rPr>
              <a:t>·  데이터 보강 (NULL / orphan)</a:t>
            </a:r>
          </a:p>
          <a:p>
            <a:r>
              <a:rPr sz="1100">
                <a:solidFill>
                  <a:srgbClr val="9CA9BE"/>
                </a:solidFill>
                <a:latin typeface="Pretendard"/>
              </a:rPr>
              <a:t>·    · 87 테이블 매핑 전수감사 + zombie 정리</a:t>
            </a:r>
          </a:p>
          <a:p>
            <a:r>
              <a:rPr sz="1100">
                <a:solidFill>
                  <a:srgbClr val="9CA9BE"/>
                </a:solidFill>
                <a:latin typeface="Pretendard"/>
              </a:rPr>
              <a:t>·    · NULL/orphan 감사 + master 메타 backfill</a:t>
            </a:r>
          </a:p>
          <a:p>
            <a:r>
              <a:rPr sz="1100">
                <a:solidFill>
                  <a:srgbClr val="9CA9BE"/>
                </a:solidFill>
                <a:latin typeface="Pretendard"/>
              </a:rPr>
              <a:t>·    · 외부 API NULL fill (subway / ttareungi / hotspots)</a:t>
            </a:r>
          </a:p>
          <a:p>
            <a:r>
              <a:rPr sz="1100">
                <a:solidFill>
                  <a:srgbClr val="9CA9BE"/>
                </a:solidFill>
                <a:latin typeface="Pretendard"/>
              </a:rPr>
              <a:t>·    · weather_daily.snow 100% 채움</a:t>
            </a:r>
          </a:p>
          <a:p>
            <a:r>
              <a:rPr sz="1100">
                <a:solidFill>
                  <a:srgbClr val="6EE7B7"/>
                </a:solidFill>
                <a:latin typeface="Pretendard"/>
              </a:rPr>
              <a:t>·    · ETL 재적재: ttareungi.dong_code 마포 + ecos.cycle</a:t>
            </a:r>
          </a:p>
          <a:p>
            <a:r>
              <a:rPr sz="1100">
                <a:solidFill>
                  <a:srgbClr val="E3E9F4"/>
                </a:solidFill>
                <a:latin typeface="Pretendard"/>
              </a:rPr>
              <a:t>·  권한 시스템 신설</a:t>
            </a:r>
          </a:p>
          <a:p>
            <a:r>
              <a:rPr sz="1100">
                <a:solidFill>
                  <a:srgbClr val="9CA9BE"/>
                </a:solidFill>
                <a:latin typeface="Pretendard"/>
              </a:rPr>
              <a:t>·    · users.is_superadmin BOOLEAN 컬럼 + alembic</a:t>
            </a:r>
          </a:p>
          <a:p>
            <a:r>
              <a:rPr sz="1100">
                <a:solidFill>
                  <a:srgbClr val="9CA9BE"/>
                </a:solidFill>
                <a:latin typeface="Pretendard"/>
              </a:rPr>
              <a:t>·    · seed_superadmin.py CLI (자동 부여 금지)</a:t>
            </a:r>
          </a:p>
          <a:p>
            <a:r>
              <a:rPr sz="1100">
                <a:solidFill>
                  <a:srgbClr val="9CA9BE"/>
                </a:solidFill>
                <a:latin typeface="Pretendard"/>
              </a:rPr>
              <a:t>·    · /admin/brands 라우터 (FTC 16K + biz_brand UNION)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000" b="1">
                <a:solidFill>
                  <a:srgbClr val="4FC3F7"/>
                </a:solidFill>
                <a:latin typeface="Pretendard"/>
              </a:rPr>
              <a:t>정량 가치 + 산출물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FB74D"/>
                </a:solidFill>
                <a:latin typeface="Pretendard"/>
              </a:rPr>
              <a:t>ABM 정량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81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지표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Before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After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LLM 호출 (5K agents × 24h, default)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120,000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0 (policy_cache)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LLM 호출 (Tier S 모드)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120,000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1,200 (S 50명만)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시뮬 latency (score_stores_batch)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기준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-49%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LLM 토큰 (caveman prompt 압축)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기준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-60%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시각화 규모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1,000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5,000 agents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FB74D"/>
                </a:solidFill>
                <a:latin typeface="Pretendard"/>
              </a:rPr>
              <a:t>DB 정량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55448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81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지표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Before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After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dong_code FK 그룹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0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4 그룹 (425+399 master)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ORM ↔ DB drift 감사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미수행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87 테이블 정합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RDS 커넥션 포화 (max 191)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빈번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싱글톤 + pool_recycle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alembic head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phantom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정합 (37 마이그)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weather/ttareungi/ecos NULL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부분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100%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297680"/>
            <a:ext cx="1124712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4FC3F7"/>
                </a:solidFill>
                <a:latin typeface="Pretendard"/>
              </a:rPr>
              <a:t>산출물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109728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>
                <a:solidFill>
                  <a:srgbClr val="E3E9F4"/>
                </a:solidFill>
                <a:latin typeface="Pretendard"/>
              </a:rPr>
              <a:t>·  커밋 50+ (non-merge), PR 19+ (IM3-241/242/243/261 sprint 등)</a:t>
            </a:r>
          </a:p>
          <a:p>
            <a:r>
              <a:rPr sz="1300">
                <a:solidFill>
                  <a:srgbClr val="9CA9BE"/>
                </a:solidFill>
                <a:latin typeface="Pretendard"/>
              </a:rPr>
              <a:t>·  ABM 모듈: brain.py 1,552 LOC · runner.py 1,640 LOC · policy_executor 1,243 LOC</a:t>
            </a:r>
          </a:p>
          <a:p>
            <a:r>
              <a:rPr sz="1300">
                <a:solidFill>
                  <a:srgbClr val="9CA9BE"/>
                </a:solidFill>
                <a:latin typeface="Pretendard"/>
              </a:rPr>
              <a:t>·  DB 모듈: models.py 2,010 LOC · 37 alembic · vector_db 138 LOC</a:t>
            </a:r>
          </a:p>
          <a:p>
            <a:r>
              <a:rPr sz="1300">
                <a:solidFill>
                  <a:srgbClr val="9CA9BE"/>
                </a:solidFill>
                <a:latin typeface="Pretendard"/>
              </a:rPr>
              <a:t>·  문서: docs/issues/2026-05-05-codebase-ultrareview.md (392줄)</a:t>
            </a:r>
          </a:p>
          <a:p>
            <a:r>
              <a:rPr sz="1300">
                <a:solidFill>
                  <a:srgbClr val="9CA9BE"/>
                </a:solidFill>
                <a:latin typeface="Pretendard"/>
              </a:rPr>
              <a:t>·  도구: seed_superadmin.py / RAG trace JSONL / audit_v4 4 CV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